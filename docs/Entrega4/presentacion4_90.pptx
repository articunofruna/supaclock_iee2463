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5814c40d1340f3" /><Relationship Type="http://schemas.openxmlformats.org/officeDocument/2006/relationships/extended-properties" Target="/docProps/app.xml" Id="Rd22c4091cd0b4cfd" /><Relationship Type="http://schemas.openxmlformats.org/officeDocument/2006/relationships/officeDocument" Target="/ppt/presentation.xml" Id="R2514bd586fbd4b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d2429d635f4626"/>
  </p:sldMasterIdLst>
  <p:notesMasterIdLst>
    <p:notesMasterId xmlns:r="http://schemas.openxmlformats.org/officeDocument/2006/relationships" r:id="R56e9c8f8c42f4b41"/>
  </p:notesMasterIdLst>
  <p:sldIdLst>
    <p:sldId xmlns:r="http://schemas.openxmlformats.org/officeDocument/2006/relationships" id="256" r:id="R8aed8b9cf7a04057"/>
    <p:sldId xmlns:r="http://schemas.openxmlformats.org/officeDocument/2006/relationships" id="257" r:id="R790a4505d8974abe"/>
    <p:sldId xmlns:r="http://schemas.openxmlformats.org/officeDocument/2006/relationships" id="258" r:id="R8d6fe50a38cb441c"/>
    <p:sldId xmlns:r="http://schemas.openxmlformats.org/officeDocument/2006/relationships" id="259" r:id="R5a71bb206f4b4017"/>
    <p:sldId xmlns:r="http://schemas.openxmlformats.org/officeDocument/2006/relationships" id="260" r:id="R31adbef153384b89"/>
    <p:sldId xmlns:r="http://schemas.openxmlformats.org/officeDocument/2006/relationships" id="261" r:id="R8009034064574058"/>
    <p:sldId xmlns:r="http://schemas.openxmlformats.org/officeDocument/2006/relationships" id="262" r:id="R6be11e2da6194124"/>
    <p:sldId xmlns:r="http://schemas.openxmlformats.org/officeDocument/2006/relationships" id="263" r:id="R700a82a439914bb4"/>
    <p:sldId xmlns:r="http://schemas.openxmlformats.org/officeDocument/2006/relationships" id="264" r:id="R9d2948d22c184a6c"/>
    <p:sldId xmlns:r="http://schemas.openxmlformats.org/officeDocument/2006/relationships" id="265" r:id="R35a908232e3c476f"/>
    <p:sldId xmlns:r="http://schemas.openxmlformats.org/officeDocument/2006/relationships" id="266" r:id="R4cfa67198a584d4d"/>
    <p:sldId xmlns:r="http://schemas.openxmlformats.org/officeDocument/2006/relationships" id="267" r:id="Rb431402a2eca4b5e"/>
    <p:sldId xmlns:r="http://schemas.openxmlformats.org/officeDocument/2006/relationships" id="268" r:id="Rd1eb55d94fe74ee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3b5c6262414757" /><Relationship Type="http://schemas.openxmlformats.org/officeDocument/2006/relationships/slideMaster" Target="/ppt/slideMasters/slideMaster1.xml" Id="Re2d2429d635f4626" /><Relationship Type="http://schemas.openxmlformats.org/officeDocument/2006/relationships/notesMaster" Target="/ppt/notesMasters/notesMaster1.xml" Id="R56e9c8f8c42f4b41" /><Relationship Type="http://schemas.openxmlformats.org/officeDocument/2006/relationships/presProps" Target="/ppt/presProps.xml" Id="R6130f06151f04860" /><Relationship Type="http://schemas.openxmlformats.org/officeDocument/2006/relationships/tableStyles" Target="/ppt/tableStyles.xml" Id="Rf910a84b264e4f86" /><Relationship Type="http://schemas.openxmlformats.org/officeDocument/2006/relationships/slide" Target="/ppt/slides/slide1.xml" Id="R8aed8b9cf7a04057" /><Relationship Type="http://schemas.openxmlformats.org/officeDocument/2006/relationships/slide" Target="/ppt/slides/slide2.xml" Id="R790a4505d8974abe" /><Relationship Type="http://schemas.openxmlformats.org/officeDocument/2006/relationships/slide" Target="/ppt/slides/slide3.xml" Id="R8d6fe50a38cb441c" /><Relationship Type="http://schemas.openxmlformats.org/officeDocument/2006/relationships/slide" Target="/ppt/slides/slide4.xml" Id="R5a71bb206f4b4017" /><Relationship Type="http://schemas.openxmlformats.org/officeDocument/2006/relationships/slide" Target="/ppt/slides/slide5.xml" Id="R31adbef153384b89" /><Relationship Type="http://schemas.openxmlformats.org/officeDocument/2006/relationships/slide" Target="/ppt/slides/slide6.xml" Id="R8009034064574058" /><Relationship Type="http://schemas.openxmlformats.org/officeDocument/2006/relationships/slide" Target="/ppt/slides/slide7.xml" Id="R6be11e2da6194124" /><Relationship Type="http://schemas.openxmlformats.org/officeDocument/2006/relationships/slide" Target="/ppt/slides/slide8.xml" Id="R700a82a439914bb4" /><Relationship Type="http://schemas.openxmlformats.org/officeDocument/2006/relationships/slide" Target="/ppt/slides/slide9.xml" Id="R9d2948d22c184a6c" /><Relationship Type="http://schemas.openxmlformats.org/officeDocument/2006/relationships/slide" Target="/ppt/slides/slide10.xml" Id="R35a908232e3c476f" /><Relationship Type="http://schemas.openxmlformats.org/officeDocument/2006/relationships/slide" Target="/ppt/slides/slide11.xml" Id="R4cfa67198a584d4d" /><Relationship Type="http://schemas.openxmlformats.org/officeDocument/2006/relationships/slide" Target="/ppt/slides/slide12.xml" Id="Rb431402a2eca4b5e" /><Relationship Type="http://schemas.openxmlformats.org/officeDocument/2006/relationships/slide" Target="/ppt/slides/slide13.xml" Id="Rd1eb55d94fe74e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2ecb5255174f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a1e4e9b59042ef" /><Relationship Type="http://schemas.openxmlformats.org/officeDocument/2006/relationships/notesMaster" Target="/ppt/notesMasters/notesMaster1.xml" Id="Reae5ba32f7804c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005cfe510146ad" /><Relationship Type="http://schemas.openxmlformats.org/officeDocument/2006/relationships/notesMaster" Target="/ppt/notesMasters/notesMaster1.xml" Id="R9717234d8e9b4c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0eed5ff8d84f4b" /><Relationship Type="http://schemas.openxmlformats.org/officeDocument/2006/relationships/notesMaster" Target="/ppt/notesMasters/notesMaster1.xml" Id="Rd98fb3af954948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a03fd6111c4ddf" /><Relationship Type="http://schemas.openxmlformats.org/officeDocument/2006/relationships/notesMaster" Target="/ppt/notesMasters/notesMaster1.xml" Id="R896a37dc01ea45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54fa7a4026482e" /><Relationship Type="http://schemas.openxmlformats.org/officeDocument/2006/relationships/notesMaster" Target="/ppt/notesMasters/notesMaster1.xml" Id="Reb5b8b4ad44f42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f307813f414833" /><Relationship Type="http://schemas.openxmlformats.org/officeDocument/2006/relationships/notesMaster" Target="/ppt/notesMasters/notesMaster1.xml" Id="Rcaddb2ea48b144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c1da43f4e04f74" /><Relationship Type="http://schemas.openxmlformats.org/officeDocument/2006/relationships/notesMaster" Target="/ppt/notesMasters/notesMaster1.xml" Id="R17902d995a5b4e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3a2539de264a92" /><Relationship Type="http://schemas.openxmlformats.org/officeDocument/2006/relationships/notesMaster" Target="/ppt/notesMasters/notesMaster1.xml" Id="R04413a9efc084b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95b355e5af4f47" /><Relationship Type="http://schemas.openxmlformats.org/officeDocument/2006/relationships/notesMaster" Target="/ppt/notesMasters/notesMaster1.xml" Id="R82e7c6998a8446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1d9ef9e8774e52" /><Relationship Type="http://schemas.openxmlformats.org/officeDocument/2006/relationships/notesMaster" Target="/ppt/notesMasters/notesMaster1.xml" Id="Rab6cb539852c46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46746e2e9b47c3" /><Relationship Type="http://schemas.openxmlformats.org/officeDocument/2006/relationships/notesMaster" Target="/ppt/notesMasters/notesMaster1.xml" Id="Recfd91b893b7451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ae04349da446c4" /><Relationship Type="http://schemas.openxmlformats.org/officeDocument/2006/relationships/notesMaster" Target="/ppt/notesMasters/notesMaster1.xml" Id="R96e3f799884c4c2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b3439836f974ad3" /><Relationship Type="http://schemas.openxmlformats.org/officeDocument/2006/relationships/notesMaster" Target="/ppt/notesMasters/notesMaster1.xml" Id="Rb083c2c6db6246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726cb2cc5643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2b791b16024274" /><Relationship Type="http://schemas.openxmlformats.org/officeDocument/2006/relationships/slideLayout" Target="/ppt/slideLayouts/slideLayout1.xml" Id="R16ab998230174a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ab998230174a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39390f3d94ecb" /><Relationship Type="http://schemas.openxmlformats.org/officeDocument/2006/relationships/image" Target="/ppt/media/image.png" Id="R4f89f0f63dc54af8" /><Relationship Type="http://schemas.openxmlformats.org/officeDocument/2006/relationships/notesSlide" Target="/ppt/notesSlides/notesSlide1.xml" Id="Ra24042fd2c0b43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5a1f8bf3547e1" /><Relationship Type="http://schemas.openxmlformats.org/officeDocument/2006/relationships/notesSlide" Target="/ppt/notesSlides/notesSlide2.xml" Id="R4af3de60ce2c4b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2fcec860f4ea4" /><Relationship Type="http://schemas.openxmlformats.org/officeDocument/2006/relationships/notesSlide" Target="/ppt/notesSlides/notesSlide3.xml" Id="Raf5359842d5c42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ed58660684556" /><Relationship Type="http://schemas.openxmlformats.org/officeDocument/2006/relationships/image" Target="/ppt/media/image2.png" Id="R718a490d882d4f50" /><Relationship Type="http://schemas.openxmlformats.org/officeDocument/2006/relationships/notesSlide" Target="/ppt/notesSlides/notesSlide4.xml" Id="R8607a417781749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b44844c084f7c" /><Relationship Type="http://schemas.openxmlformats.org/officeDocument/2006/relationships/chart" Target="/ppt/slides/charts/chart1.xml" Id="R862dd651272145bc" /><Relationship Type="http://schemas.openxmlformats.org/officeDocument/2006/relationships/notesSlide" Target="/ppt/notesSlides/notesSlide5.xml" Id="R92b1fac037e243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f30876da14975" /><Relationship Type="http://schemas.openxmlformats.org/officeDocument/2006/relationships/notesSlide" Target="/ppt/notesSlides/notesSlide6.xml" Id="Rf17f3d4428a84f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be0c5fb2a43b0" /><Relationship Type="http://schemas.openxmlformats.org/officeDocument/2006/relationships/image" Target="/ppt/media/image3.png" Id="R2f951c66e49547c6" /><Relationship Type="http://schemas.openxmlformats.org/officeDocument/2006/relationships/notesSlide" Target="/ppt/notesSlides/notesSlide7.xml" Id="Rfda9a2b236b348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c33dd1ff74e6e" /><Relationship Type="http://schemas.openxmlformats.org/officeDocument/2006/relationships/image" Target="/ppt/media/image.jpeg" Id="R7b8c2ffb825e42ba" /><Relationship Type="http://schemas.openxmlformats.org/officeDocument/2006/relationships/image" Target="/ppt/media/image2.jpeg" Id="Rdc54fe5def284043" /><Relationship Type="http://schemas.openxmlformats.org/officeDocument/2006/relationships/image" Target="/ppt/media/image3.jpeg" Id="R0b2f395917d5438f" /><Relationship Type="http://schemas.openxmlformats.org/officeDocument/2006/relationships/notesSlide" Target="/ppt/notesSlides/notesSlide8.xml" Id="R69654793b9624d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5f38f9ad64ba0" /><Relationship Type="http://schemas.openxmlformats.org/officeDocument/2006/relationships/image" Target="/ppt/media/image4.png" Id="Rcac0024993ed4236" /><Relationship Type="http://schemas.openxmlformats.org/officeDocument/2006/relationships/image" Target="/ppt/media/image5.png" Id="R062879b039be46ed" /><Relationship Type="http://schemas.openxmlformats.org/officeDocument/2006/relationships/notesSlide" Target="/ppt/notesSlides/notesSlide9.xml" Id="Rab611fe8c59645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05fae5fcf4837" /><Relationship Type="http://schemas.openxmlformats.org/officeDocument/2006/relationships/image" Target="/ppt/media/image6.png" Id="R720f1d4950f94057" /><Relationship Type="http://schemas.openxmlformats.org/officeDocument/2006/relationships/image" Target="/ppt/media/image7.png" Id="Rfadd9f942c6449fe" /><Relationship Type="http://schemas.openxmlformats.org/officeDocument/2006/relationships/notesSlide" Target="/ppt/notesSlides/notesSlide10.xml" Id="R9c878b7193424a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cddc8041b4695" /><Relationship Type="http://schemas.openxmlformats.org/officeDocument/2006/relationships/notesSlide" Target="/ppt/notesSlides/notesSlide11.xml" Id="R65a0c6eb650e43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dd62abf6a4085" /><Relationship Type="http://schemas.openxmlformats.org/officeDocument/2006/relationships/notesSlide" Target="/ppt/notesSlides/notesSlide12.xml" Id="R3f2e7bb8d846411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37e6e0816428c" /><Relationship Type="http://schemas.openxmlformats.org/officeDocument/2006/relationships/notesSlide" Target="/ppt/notesSlides/notesSlide13.xml" Id="R0dc10f9f067e47aa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lineChart>
        <c:grouping val="standard"/>
        <c:varyColors val="0"/>
        <c:ser>
          <c:idx val="0"/>
          <c:order val="0"/>
          <c:tx>
            <c:v>ECG raw</c:v>
          </c:tx>
          <c:spPr>
            <a:ln xmlns:a="http://schemas.openxmlformats.org/drawingml/2006/main" w="28575">
              <a:solidFill>
                <a:srgbClr val="3FB950"/>
              </a:solidFill>
              <a:prstDash val="solid"/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324"/>
              <c:pt idx="0">
                <c:v>0.00</c:v>
              </c:pt>
              <c:pt idx="1">
                <c:v>0.01</c:v>
              </c:pt>
              <c:pt idx="2">
                <c:v>0.00</c:v>
              </c:pt>
              <c:pt idx="3">
                <c:v>0.01</c:v>
              </c:pt>
              <c:pt idx="4">
                <c:v>0.04</c:v>
              </c:pt>
              <c:pt idx="5">
                <c:v>0.05</c:v>
              </c:pt>
              <c:pt idx="6">
                <c:v>0.04</c:v>
              </c:pt>
              <c:pt idx="7">
                <c:v>0.05</c:v>
              </c:pt>
              <c:pt idx="8">
                <c:v>0.08</c:v>
              </c:pt>
              <c:pt idx="9">
                <c:v>0.09</c:v>
              </c:pt>
              <c:pt idx="10">
                <c:v>0.08</c:v>
              </c:pt>
              <c:pt idx="11">
                <c:v>0.09</c:v>
              </c:pt>
              <c:pt idx="12">
                <c:v>0.12</c:v>
              </c:pt>
              <c:pt idx="13">
                <c:v>0.13</c:v>
              </c:pt>
              <c:pt idx="14">
                <c:v>0.12</c:v>
              </c:pt>
              <c:pt idx="15">
                <c:v>0.13</c:v>
              </c:pt>
              <c:pt idx="16">
                <c:v>0.12</c:v>
              </c:pt>
              <c:pt idx="17">
                <c:v>0.13</c:v>
              </c:pt>
              <c:pt idx="18">
                <c:v>0.21</c:v>
              </c:pt>
              <c:pt idx="19">
                <c:v>0.22</c:v>
              </c:pt>
              <c:pt idx="20">
                <c:v>0.21</c:v>
              </c:pt>
              <c:pt idx="21">
                <c:v>0.22</c:v>
              </c:pt>
              <c:pt idx="22">
                <c:v>0.24</c:v>
              </c:pt>
              <c:pt idx="23">
                <c:v>0.26</c:v>
              </c:pt>
              <c:pt idx="24">
                <c:v>0.24</c:v>
              </c:pt>
              <c:pt idx="25">
                <c:v>0.26</c:v>
              </c:pt>
              <c:pt idx="26">
                <c:v>0.28</c:v>
              </c:pt>
              <c:pt idx="27">
                <c:v>0.29</c:v>
              </c:pt>
              <c:pt idx="28">
                <c:v>0.28</c:v>
              </c:pt>
              <c:pt idx="29">
                <c:v>0.29</c:v>
              </c:pt>
              <c:pt idx="30">
                <c:v>0.28</c:v>
              </c:pt>
              <c:pt idx="31">
                <c:v>0.29</c:v>
              </c:pt>
              <c:pt idx="32">
                <c:v>0.33</c:v>
              </c:pt>
              <c:pt idx="33">
                <c:v>0.34</c:v>
              </c:pt>
              <c:pt idx="34">
                <c:v>0.33</c:v>
              </c:pt>
              <c:pt idx="35">
                <c:v>0.34</c:v>
              </c:pt>
              <c:pt idx="36">
                <c:v>0.37</c:v>
              </c:pt>
              <c:pt idx="37">
                <c:v>0.38</c:v>
              </c:pt>
              <c:pt idx="38">
                <c:v>0.37</c:v>
              </c:pt>
              <c:pt idx="39">
                <c:v>0.38</c:v>
              </c:pt>
              <c:pt idx="40">
                <c:v>0.41</c:v>
              </c:pt>
              <c:pt idx="41">
                <c:v>0.42</c:v>
              </c:pt>
              <c:pt idx="42">
                <c:v>0.41</c:v>
              </c:pt>
              <c:pt idx="43">
                <c:v>0.42</c:v>
              </c:pt>
              <c:pt idx="44">
                <c:v>0.45</c:v>
              </c:pt>
              <c:pt idx="45">
                <c:v>0.46</c:v>
              </c:pt>
              <c:pt idx="46">
                <c:v>0.45</c:v>
              </c:pt>
              <c:pt idx="47">
                <c:v>0.46</c:v>
              </c:pt>
              <c:pt idx="48">
                <c:v>0.45</c:v>
              </c:pt>
              <c:pt idx="49">
                <c:v>0.46</c:v>
              </c:pt>
              <c:pt idx="50">
                <c:v>0.48</c:v>
              </c:pt>
              <c:pt idx="51">
                <c:v>0.49</c:v>
              </c:pt>
              <c:pt idx="52">
                <c:v>0.48</c:v>
              </c:pt>
              <c:pt idx="53">
                <c:v>0.49</c:v>
              </c:pt>
              <c:pt idx="54">
                <c:v>0.56</c:v>
              </c:pt>
              <c:pt idx="55">
                <c:v>0.57</c:v>
              </c:pt>
              <c:pt idx="56">
                <c:v>0.56</c:v>
              </c:pt>
              <c:pt idx="57">
                <c:v>0.57</c:v>
              </c:pt>
              <c:pt idx="58">
                <c:v>0.59</c:v>
              </c:pt>
              <c:pt idx="59">
                <c:v>0.60</c:v>
              </c:pt>
              <c:pt idx="60">
                <c:v>0.59</c:v>
              </c:pt>
              <c:pt idx="61">
                <c:v>0.60</c:v>
              </c:pt>
              <c:pt idx="62">
                <c:v>0.63</c:v>
              </c:pt>
              <c:pt idx="63">
                <c:v>0.64</c:v>
              </c:pt>
              <c:pt idx="64">
                <c:v>0.63</c:v>
              </c:pt>
              <c:pt idx="65">
                <c:v>0.64</c:v>
              </c:pt>
              <c:pt idx="66">
                <c:v>0.63</c:v>
              </c:pt>
              <c:pt idx="67">
                <c:v>0.64</c:v>
              </c:pt>
              <c:pt idx="68">
                <c:v>0.67</c:v>
              </c:pt>
              <c:pt idx="69">
                <c:v>0.68</c:v>
              </c:pt>
              <c:pt idx="70">
                <c:v>0.67</c:v>
              </c:pt>
              <c:pt idx="71">
                <c:v>0.68</c:v>
              </c:pt>
              <c:pt idx="72">
                <c:v>0.74</c:v>
              </c:pt>
              <c:pt idx="73">
                <c:v>0.75</c:v>
              </c:pt>
              <c:pt idx="74">
                <c:v>0.74</c:v>
              </c:pt>
              <c:pt idx="75">
                <c:v>0.75</c:v>
              </c:pt>
              <c:pt idx="76">
                <c:v>0.81</c:v>
              </c:pt>
              <c:pt idx="77">
                <c:v>0.82</c:v>
              </c:pt>
              <c:pt idx="78">
                <c:v>0.81</c:v>
              </c:pt>
              <c:pt idx="79">
                <c:v>0.82</c:v>
              </c:pt>
              <c:pt idx="80">
                <c:v>0.81</c:v>
              </c:pt>
              <c:pt idx="81">
                <c:v>0.82</c:v>
              </c:pt>
              <c:pt idx="82">
                <c:v>0.81</c:v>
              </c:pt>
              <c:pt idx="83">
                <c:v>0.82</c:v>
              </c:pt>
              <c:pt idx="84">
                <c:v>0.81</c:v>
              </c:pt>
              <c:pt idx="85">
                <c:v>0.82</c:v>
              </c:pt>
              <c:pt idx="86">
                <c:v>0.85</c:v>
              </c:pt>
              <c:pt idx="87">
                <c:v>0.86</c:v>
              </c:pt>
              <c:pt idx="88">
                <c:v>0.85</c:v>
              </c:pt>
              <c:pt idx="89">
                <c:v>0.86</c:v>
              </c:pt>
              <c:pt idx="90">
                <c:v>0.89</c:v>
              </c:pt>
              <c:pt idx="91">
                <c:v>0.90</c:v>
              </c:pt>
              <c:pt idx="92">
                <c:v>0.89</c:v>
              </c:pt>
              <c:pt idx="93">
                <c:v>0.90</c:v>
              </c:pt>
              <c:pt idx="94">
                <c:v>0.96</c:v>
              </c:pt>
              <c:pt idx="95">
                <c:v>0.97</c:v>
              </c:pt>
              <c:pt idx="96">
                <c:v>0.96</c:v>
              </c:pt>
              <c:pt idx="97">
                <c:v>0.97</c:v>
              </c:pt>
              <c:pt idx="98">
                <c:v>1.00</c:v>
              </c:pt>
              <c:pt idx="99">
                <c:v>1.01</c:v>
              </c:pt>
              <c:pt idx="100">
                <c:v>1.00</c:v>
              </c:pt>
              <c:pt idx="101">
                <c:v>1.01</c:v>
              </c:pt>
              <c:pt idx="102">
                <c:v>1.00</c:v>
              </c:pt>
              <c:pt idx="103">
                <c:v>1.01</c:v>
              </c:pt>
              <c:pt idx="104">
                <c:v>1.04</c:v>
              </c:pt>
              <c:pt idx="105">
                <c:v>1.05</c:v>
              </c:pt>
              <c:pt idx="106">
                <c:v>1.04</c:v>
              </c:pt>
              <c:pt idx="107">
                <c:v>1.05</c:v>
              </c:pt>
              <c:pt idx="108">
                <c:v>1.08</c:v>
              </c:pt>
              <c:pt idx="109">
                <c:v>1.09</c:v>
              </c:pt>
              <c:pt idx="110">
                <c:v>1.08</c:v>
              </c:pt>
              <c:pt idx="111">
                <c:v>1.09</c:v>
              </c:pt>
              <c:pt idx="112">
                <c:v>1.11</c:v>
              </c:pt>
              <c:pt idx="113">
                <c:v>1.12</c:v>
              </c:pt>
              <c:pt idx="114">
                <c:v>1.11</c:v>
              </c:pt>
              <c:pt idx="115">
                <c:v>1.12</c:v>
              </c:pt>
              <c:pt idx="116">
                <c:v>1.19</c:v>
              </c:pt>
              <c:pt idx="117">
                <c:v>1.20</c:v>
              </c:pt>
              <c:pt idx="118">
                <c:v>1.19</c:v>
              </c:pt>
              <c:pt idx="119">
                <c:v>1.20</c:v>
              </c:pt>
              <c:pt idx="120">
                <c:v>1.19</c:v>
              </c:pt>
              <c:pt idx="121">
                <c:v>1.20</c:v>
              </c:pt>
              <c:pt idx="122">
                <c:v>1.26</c:v>
              </c:pt>
              <c:pt idx="123">
                <c:v>1.27</c:v>
              </c:pt>
              <c:pt idx="124">
                <c:v>1.26</c:v>
              </c:pt>
              <c:pt idx="125">
                <c:v>1.27</c:v>
              </c:pt>
              <c:pt idx="126">
                <c:v>1.26</c:v>
              </c:pt>
              <c:pt idx="127">
                <c:v>1.27</c:v>
              </c:pt>
              <c:pt idx="128">
                <c:v>1.26</c:v>
              </c:pt>
              <c:pt idx="129">
                <c:v>1.27</c:v>
              </c:pt>
              <c:pt idx="130">
                <c:v>1.30</c:v>
              </c:pt>
              <c:pt idx="131">
                <c:v>1.31</c:v>
              </c:pt>
              <c:pt idx="132">
                <c:v>1.30</c:v>
              </c:pt>
              <c:pt idx="133">
                <c:v>1.31</c:v>
              </c:pt>
              <c:pt idx="134">
                <c:v>1.37</c:v>
              </c:pt>
              <c:pt idx="135">
                <c:v>1.38</c:v>
              </c:pt>
              <c:pt idx="136">
                <c:v>1.37</c:v>
              </c:pt>
              <c:pt idx="137">
                <c:v>1.38</c:v>
              </c:pt>
              <c:pt idx="138">
                <c:v>1.37</c:v>
              </c:pt>
              <c:pt idx="139">
                <c:v>1.38</c:v>
              </c:pt>
              <c:pt idx="140">
                <c:v>1.40</c:v>
              </c:pt>
              <c:pt idx="141">
                <c:v>1.41</c:v>
              </c:pt>
              <c:pt idx="142">
                <c:v>1.43</c:v>
              </c:pt>
              <c:pt idx="143">
                <c:v>1.44</c:v>
              </c:pt>
              <c:pt idx="144">
                <c:v>1.43</c:v>
              </c:pt>
              <c:pt idx="145">
                <c:v>1.44</c:v>
              </c:pt>
              <c:pt idx="146">
                <c:v>1.43</c:v>
              </c:pt>
              <c:pt idx="147">
                <c:v>1.44</c:v>
              </c:pt>
              <c:pt idx="148">
                <c:v>1.50</c:v>
              </c:pt>
              <c:pt idx="149">
                <c:v>1.51</c:v>
              </c:pt>
              <c:pt idx="150">
                <c:v>1.50</c:v>
              </c:pt>
              <c:pt idx="151">
                <c:v>1.51</c:v>
              </c:pt>
              <c:pt idx="152">
                <c:v>1.54</c:v>
              </c:pt>
              <c:pt idx="153">
                <c:v>1.55</c:v>
              </c:pt>
              <c:pt idx="154">
                <c:v>1.54</c:v>
              </c:pt>
              <c:pt idx="155">
                <c:v>1.55</c:v>
              </c:pt>
              <c:pt idx="156">
                <c:v>1.58</c:v>
              </c:pt>
              <c:pt idx="157">
                <c:v>1.59</c:v>
              </c:pt>
              <c:pt idx="158">
                <c:v>1.58</c:v>
              </c:pt>
              <c:pt idx="159">
                <c:v>1.59</c:v>
              </c:pt>
              <c:pt idx="160">
                <c:v>1.61</c:v>
              </c:pt>
              <c:pt idx="161">
                <c:v>1.63</c:v>
              </c:pt>
              <c:pt idx="162">
                <c:v>1.61</c:v>
              </c:pt>
              <c:pt idx="163">
                <c:v>1.63</c:v>
              </c:pt>
              <c:pt idx="164">
                <c:v>1.61</c:v>
              </c:pt>
              <c:pt idx="165">
                <c:v>1.63</c:v>
              </c:pt>
              <c:pt idx="166">
                <c:v>1.65</c:v>
              </c:pt>
              <c:pt idx="167">
                <c:v>1.66</c:v>
              </c:pt>
              <c:pt idx="168">
                <c:v>1.65</c:v>
              </c:pt>
              <c:pt idx="169">
                <c:v>1.66</c:v>
              </c:pt>
              <c:pt idx="170">
                <c:v>1.73</c:v>
              </c:pt>
              <c:pt idx="171">
                <c:v>1.74</c:v>
              </c:pt>
              <c:pt idx="172">
                <c:v>1.73</c:v>
              </c:pt>
              <c:pt idx="173">
                <c:v>1.74</c:v>
              </c:pt>
              <c:pt idx="174">
                <c:v>1.76</c:v>
              </c:pt>
              <c:pt idx="175">
                <c:v>1.77</c:v>
              </c:pt>
              <c:pt idx="176">
                <c:v>1.76</c:v>
              </c:pt>
              <c:pt idx="177">
                <c:v>1.77</c:v>
              </c:pt>
              <c:pt idx="178">
                <c:v>1.76</c:v>
              </c:pt>
              <c:pt idx="179">
                <c:v>1.77</c:v>
              </c:pt>
              <c:pt idx="180">
                <c:v>1.80</c:v>
              </c:pt>
              <c:pt idx="181">
                <c:v>1.81</c:v>
              </c:pt>
              <c:pt idx="182">
                <c:v>1.80</c:v>
              </c:pt>
              <c:pt idx="183">
                <c:v>1.81</c:v>
              </c:pt>
              <c:pt idx="184">
                <c:v>1.84</c:v>
              </c:pt>
              <c:pt idx="185">
                <c:v>1.85</c:v>
              </c:pt>
              <c:pt idx="186">
                <c:v>1.84</c:v>
              </c:pt>
              <c:pt idx="187">
                <c:v>1.85</c:v>
              </c:pt>
              <c:pt idx="188">
                <c:v>1.88</c:v>
              </c:pt>
              <c:pt idx="189">
                <c:v>1.89</c:v>
              </c:pt>
              <c:pt idx="190">
                <c:v>1.88</c:v>
              </c:pt>
              <c:pt idx="191">
                <c:v>1.89</c:v>
              </c:pt>
              <c:pt idx="192">
                <c:v>1.95</c:v>
              </c:pt>
              <c:pt idx="193">
                <c:v>1.96</c:v>
              </c:pt>
              <c:pt idx="194">
                <c:v>1.95</c:v>
              </c:pt>
              <c:pt idx="195">
                <c:v>1.96</c:v>
              </c:pt>
              <c:pt idx="196">
                <c:v>1.95</c:v>
              </c:pt>
              <c:pt idx="197">
                <c:v>1.96</c:v>
              </c:pt>
              <c:pt idx="198">
                <c:v>1.99</c:v>
              </c:pt>
              <c:pt idx="199">
                <c:v>2.00</c:v>
              </c:pt>
              <c:pt idx="200">
                <c:v>1.99</c:v>
              </c:pt>
              <c:pt idx="201">
                <c:v>2.00</c:v>
              </c:pt>
              <c:pt idx="202">
                <c:v>2.03</c:v>
              </c:pt>
              <c:pt idx="203">
                <c:v>2.04</c:v>
              </c:pt>
              <c:pt idx="204">
                <c:v>2.03</c:v>
              </c:pt>
              <c:pt idx="205">
                <c:v>2.04</c:v>
              </c:pt>
              <c:pt idx="206">
                <c:v>2.06</c:v>
              </c:pt>
              <c:pt idx="207">
                <c:v>2.07</c:v>
              </c:pt>
              <c:pt idx="208">
                <c:v>2.06</c:v>
              </c:pt>
              <c:pt idx="209">
                <c:v>2.07</c:v>
              </c:pt>
              <c:pt idx="210">
                <c:v>2.13</c:v>
              </c:pt>
              <c:pt idx="211">
                <c:v>2.15</c:v>
              </c:pt>
              <c:pt idx="212">
                <c:v>2.13</c:v>
              </c:pt>
              <c:pt idx="213">
                <c:v>2.15</c:v>
              </c:pt>
              <c:pt idx="214">
                <c:v>2.13</c:v>
              </c:pt>
              <c:pt idx="215">
                <c:v>2.15</c:v>
              </c:pt>
              <c:pt idx="216">
                <c:v>2.17</c:v>
              </c:pt>
              <c:pt idx="217">
                <c:v>2.18</c:v>
              </c:pt>
              <c:pt idx="218">
                <c:v>2.17</c:v>
              </c:pt>
              <c:pt idx="219">
                <c:v>2.18</c:v>
              </c:pt>
              <c:pt idx="220">
                <c:v>2.21</c:v>
              </c:pt>
              <c:pt idx="221">
                <c:v>2.22</c:v>
              </c:pt>
              <c:pt idx="222">
                <c:v>2.21</c:v>
              </c:pt>
              <c:pt idx="223">
                <c:v>2.22</c:v>
              </c:pt>
              <c:pt idx="224">
                <c:v>2.27</c:v>
              </c:pt>
              <c:pt idx="225">
                <c:v>2.28</c:v>
              </c:pt>
              <c:pt idx="226">
                <c:v>2.27</c:v>
              </c:pt>
              <c:pt idx="227">
                <c:v>2.28</c:v>
              </c:pt>
              <c:pt idx="228">
                <c:v>2.31</c:v>
              </c:pt>
              <c:pt idx="229">
                <c:v>2.32</c:v>
              </c:pt>
              <c:pt idx="230">
                <c:v>2.31</c:v>
              </c:pt>
              <c:pt idx="231">
                <c:v>2.32</c:v>
              </c:pt>
              <c:pt idx="232">
                <c:v>2.31</c:v>
              </c:pt>
              <c:pt idx="233">
                <c:v>2.32</c:v>
              </c:pt>
              <c:pt idx="234">
                <c:v>2.34</c:v>
              </c:pt>
              <c:pt idx="235">
                <c:v>2.35</c:v>
              </c:pt>
              <c:pt idx="236">
                <c:v>2.34</c:v>
              </c:pt>
              <c:pt idx="237">
                <c:v>2.35</c:v>
              </c:pt>
              <c:pt idx="238">
                <c:v>2.38</c:v>
              </c:pt>
              <c:pt idx="239">
                <c:v>2.39</c:v>
              </c:pt>
              <c:pt idx="240">
                <c:v>2.38</c:v>
              </c:pt>
              <c:pt idx="241">
                <c:v>2.39</c:v>
              </c:pt>
              <c:pt idx="242">
                <c:v>2.44</c:v>
              </c:pt>
              <c:pt idx="243">
                <c:v>2.45</c:v>
              </c:pt>
              <c:pt idx="244">
                <c:v>2.44</c:v>
              </c:pt>
              <c:pt idx="245">
                <c:v>2.45</c:v>
              </c:pt>
              <c:pt idx="246">
                <c:v>2.48</c:v>
              </c:pt>
              <c:pt idx="247">
                <c:v>2.49</c:v>
              </c:pt>
              <c:pt idx="248">
                <c:v>2.48</c:v>
              </c:pt>
              <c:pt idx="249">
                <c:v>2.49</c:v>
              </c:pt>
              <c:pt idx="250">
                <c:v>2.48</c:v>
              </c:pt>
              <c:pt idx="251">
                <c:v>2.49</c:v>
              </c:pt>
              <c:pt idx="252">
                <c:v>2.51</c:v>
              </c:pt>
              <c:pt idx="253">
                <c:v>2.52</c:v>
              </c:pt>
              <c:pt idx="254">
                <c:v>2.51</c:v>
              </c:pt>
              <c:pt idx="255">
                <c:v>2.52</c:v>
              </c:pt>
              <c:pt idx="256">
                <c:v>2.58</c:v>
              </c:pt>
              <c:pt idx="257">
                <c:v>2.59</c:v>
              </c:pt>
              <c:pt idx="258">
                <c:v>2.61</c:v>
              </c:pt>
              <c:pt idx="259">
                <c:v>2.62</c:v>
              </c:pt>
              <c:pt idx="260">
                <c:v>2.61</c:v>
              </c:pt>
              <c:pt idx="261">
                <c:v>2.62</c:v>
              </c:pt>
              <c:pt idx="262">
                <c:v>2.61</c:v>
              </c:pt>
              <c:pt idx="263">
                <c:v>2.62</c:v>
              </c:pt>
              <c:pt idx="264">
                <c:v>2.65</c:v>
              </c:pt>
              <c:pt idx="265">
                <c:v>2.66</c:v>
              </c:pt>
              <c:pt idx="266">
                <c:v>2.65</c:v>
              </c:pt>
              <c:pt idx="267">
                <c:v>2.66</c:v>
              </c:pt>
              <c:pt idx="268">
                <c:v>2.65</c:v>
              </c:pt>
              <c:pt idx="269">
                <c:v>2.66</c:v>
              </c:pt>
              <c:pt idx="270">
                <c:v>2.71</c:v>
              </c:pt>
              <c:pt idx="271">
                <c:v>2.72</c:v>
              </c:pt>
              <c:pt idx="272">
                <c:v>2.71</c:v>
              </c:pt>
              <c:pt idx="273">
                <c:v>2.72</c:v>
              </c:pt>
              <c:pt idx="274">
                <c:v>2.75</c:v>
              </c:pt>
              <c:pt idx="275">
                <c:v>2.76</c:v>
              </c:pt>
              <c:pt idx="276">
                <c:v>2.75</c:v>
              </c:pt>
              <c:pt idx="277">
                <c:v>2.76</c:v>
              </c:pt>
              <c:pt idx="278">
                <c:v>2.78</c:v>
              </c:pt>
              <c:pt idx="279">
                <c:v>2.79</c:v>
              </c:pt>
              <c:pt idx="280">
                <c:v>2.78</c:v>
              </c:pt>
              <c:pt idx="281">
                <c:v>2.79</c:v>
              </c:pt>
              <c:pt idx="282">
                <c:v>2.84</c:v>
              </c:pt>
              <c:pt idx="283">
                <c:v>2.85</c:v>
              </c:pt>
              <c:pt idx="284">
                <c:v>2.84</c:v>
              </c:pt>
              <c:pt idx="285">
                <c:v>2.85</c:v>
              </c:pt>
              <c:pt idx="286">
                <c:v>2.84</c:v>
              </c:pt>
              <c:pt idx="287">
                <c:v>2.85</c:v>
              </c:pt>
              <c:pt idx="288">
                <c:v>2.88</c:v>
              </c:pt>
              <c:pt idx="289">
                <c:v>2.89</c:v>
              </c:pt>
              <c:pt idx="290">
                <c:v>2.88</c:v>
              </c:pt>
              <c:pt idx="291">
                <c:v>2.89</c:v>
              </c:pt>
              <c:pt idx="292">
                <c:v>2.94</c:v>
              </c:pt>
              <c:pt idx="293">
                <c:v>2.95</c:v>
              </c:pt>
              <c:pt idx="294">
                <c:v>2.94</c:v>
              </c:pt>
              <c:pt idx="295">
                <c:v>2.95</c:v>
              </c:pt>
              <c:pt idx="296">
                <c:v>2.98</c:v>
              </c:pt>
              <c:pt idx="297">
                <c:v>2.99</c:v>
              </c:pt>
              <c:pt idx="298">
                <c:v>2.98</c:v>
              </c:pt>
              <c:pt idx="299">
                <c:v>2.99</c:v>
              </c:pt>
              <c:pt idx="300">
                <c:v>3.01</c:v>
              </c:pt>
              <c:pt idx="301">
                <c:v>3.02</c:v>
              </c:pt>
              <c:pt idx="302">
                <c:v>3.01</c:v>
              </c:pt>
              <c:pt idx="303">
                <c:v>3.02</c:v>
              </c:pt>
              <c:pt idx="304">
                <c:v>3.01</c:v>
              </c:pt>
              <c:pt idx="305">
                <c:v>3.02</c:v>
              </c:pt>
              <c:pt idx="306">
                <c:v>3.05</c:v>
              </c:pt>
              <c:pt idx="307">
                <c:v>3.06</c:v>
              </c:pt>
              <c:pt idx="308">
                <c:v>3.05</c:v>
              </c:pt>
              <c:pt idx="309">
                <c:v>3.06</c:v>
              </c:pt>
              <c:pt idx="310">
                <c:v>3.15</c:v>
              </c:pt>
              <c:pt idx="311">
                <c:v>3.16</c:v>
              </c:pt>
              <c:pt idx="312">
                <c:v>3.15</c:v>
              </c:pt>
              <c:pt idx="313">
                <c:v>3.16</c:v>
              </c:pt>
              <c:pt idx="314">
                <c:v>3.15</c:v>
              </c:pt>
              <c:pt idx="315">
                <c:v>3.16</c:v>
              </c:pt>
              <c:pt idx="316">
                <c:v>3.15</c:v>
              </c:pt>
              <c:pt idx="317">
                <c:v>3.16</c:v>
              </c:pt>
              <c:pt idx="318">
                <c:v>3.15</c:v>
              </c:pt>
              <c:pt idx="319">
                <c:v>3.16</c:v>
              </c:pt>
              <c:pt idx="320">
                <c:v>3.18</c:v>
              </c:pt>
              <c:pt idx="321">
                <c:v>3.19</c:v>
              </c:pt>
              <c:pt idx="322">
                <c:v>3.18</c:v>
              </c:pt>
              <c:pt idx="323">
                <c:v>3.19</c:v>
              </c:pt>
            </c:numLit>
          </c:cat>
          <c:val>
            <c:numLit>
              <c:formatCode>General</c:formatCode>
              <c:ptCount val="324"/>
              <c:pt idx="0">
                <c:v>1980</c:v>
              </c:pt>
              <c:pt idx="1">
                <c:v>2074</c:v>
              </c:pt>
              <c:pt idx="2">
                <c:v>1989</c:v>
              </c:pt>
              <c:pt idx="3">
                <c:v>1927</c:v>
              </c:pt>
              <c:pt idx="4">
                <c:v>1975</c:v>
              </c:pt>
              <c:pt idx="5">
                <c:v>1953</c:v>
              </c:pt>
              <c:pt idx="6">
                <c:v>1952</c:v>
              </c:pt>
              <c:pt idx="7">
                <c:v>1936</c:v>
              </c:pt>
              <c:pt idx="8">
                <c:v>1931</c:v>
              </c:pt>
              <c:pt idx="9">
                <c:v>1856</c:v>
              </c:pt>
              <c:pt idx="10">
                <c:v>2156</c:v>
              </c:pt>
              <c:pt idx="11">
                <c:v>2770</c:v>
              </c:pt>
              <c:pt idx="12">
                <c:v>3114</c:v>
              </c:pt>
              <c:pt idx="13">
                <c:v>2527</c:v>
              </c:pt>
              <c:pt idx="14">
                <c:v>2245</c:v>
              </c:pt>
              <c:pt idx="15">
                <c:v>2041</c:v>
              </c:pt>
              <c:pt idx="16">
                <c:v>2039</c:v>
              </c:pt>
              <c:pt idx="17">
                <c:v>1939</c:v>
              </c:pt>
              <c:pt idx="18">
                <c:v>2011</c:v>
              </c:pt>
              <c:pt idx="19">
                <c:v>1959</c:v>
              </c:pt>
              <c:pt idx="20">
                <c:v>2023</c:v>
              </c:pt>
              <c:pt idx="21">
                <c:v>1954</c:v>
              </c:pt>
              <c:pt idx="22">
                <c:v>2023</c:v>
              </c:pt>
              <c:pt idx="23">
                <c:v>1992</c:v>
              </c:pt>
              <c:pt idx="24">
                <c:v>2054</c:v>
              </c:pt>
              <c:pt idx="25">
                <c:v>2035</c:v>
              </c:pt>
              <c:pt idx="26">
                <c:v>2114</c:v>
              </c:pt>
              <c:pt idx="27">
                <c:v>2123</c:v>
              </c:pt>
              <c:pt idx="28">
                <c:v>2240</c:v>
              </c:pt>
              <c:pt idx="29">
                <c:v>2180</c:v>
              </c:pt>
              <c:pt idx="30">
                <c:v>2265</c:v>
              </c:pt>
              <c:pt idx="31">
                <c:v>2240</c:v>
              </c:pt>
              <c:pt idx="32">
                <c:v>2298</c:v>
              </c:pt>
              <c:pt idx="33">
                <c:v>2236</c:v>
              </c:pt>
              <c:pt idx="34">
                <c:v>2245</c:v>
              </c:pt>
              <c:pt idx="35">
                <c:v>2154</c:v>
              </c:pt>
              <c:pt idx="36">
                <c:v>2109</c:v>
              </c:pt>
              <c:pt idx="37">
                <c:v>1963</c:v>
              </c:pt>
              <c:pt idx="38">
                <c:v>1936</c:v>
              </c:pt>
              <c:pt idx="39">
                <c:v>1893</c:v>
              </c:pt>
              <c:pt idx="40">
                <c:v>1923</c:v>
              </c:pt>
              <c:pt idx="41">
                <c:v>1849</c:v>
              </c:pt>
              <c:pt idx="42">
                <c:v>1880</c:v>
              </c:pt>
              <c:pt idx="43">
                <c:v>1834</c:v>
              </c:pt>
              <c:pt idx="44">
                <c:v>1878</c:v>
              </c:pt>
              <c:pt idx="45">
                <c:v>1805</c:v>
              </c:pt>
              <c:pt idx="46">
                <c:v>1864</c:v>
              </c:pt>
              <c:pt idx="47">
                <c:v>1806</c:v>
              </c:pt>
              <c:pt idx="48">
                <c:v>1899</c:v>
              </c:pt>
              <c:pt idx="49">
                <c:v>1869</c:v>
              </c:pt>
              <c:pt idx="50">
                <c:v>1937</c:v>
              </c:pt>
              <c:pt idx="51">
                <c:v>1894</c:v>
              </c:pt>
              <c:pt idx="52">
                <c:v>1914</c:v>
              </c:pt>
              <c:pt idx="53">
                <c:v>1831</c:v>
              </c:pt>
              <c:pt idx="54">
                <c:v>1878</c:v>
              </c:pt>
              <c:pt idx="55">
                <c:v>1829</c:v>
              </c:pt>
              <c:pt idx="56">
                <c:v>1860</c:v>
              </c:pt>
              <c:pt idx="57">
                <c:v>1813</c:v>
              </c:pt>
              <c:pt idx="58">
                <c:v>1888</c:v>
              </c:pt>
              <c:pt idx="59">
                <c:v>1827</c:v>
              </c:pt>
              <c:pt idx="60">
                <c:v>1861</c:v>
              </c:pt>
              <c:pt idx="61">
                <c:v>1811</c:v>
              </c:pt>
              <c:pt idx="62">
                <c:v>1897</c:v>
              </c:pt>
              <c:pt idx="63">
                <c:v>1845</c:v>
              </c:pt>
              <c:pt idx="64">
                <c:v>1908</c:v>
              </c:pt>
              <c:pt idx="65">
                <c:v>1916</c:v>
              </c:pt>
              <c:pt idx="66">
                <c:v>1939</c:v>
              </c:pt>
              <c:pt idx="67">
                <c:v>1894</c:v>
              </c:pt>
              <c:pt idx="68">
                <c:v>1940</c:v>
              </c:pt>
              <c:pt idx="69">
                <c:v>1823</c:v>
              </c:pt>
              <c:pt idx="70">
                <c:v>1832</c:v>
              </c:pt>
              <c:pt idx="71">
                <c:v>1777</c:v>
              </c:pt>
              <c:pt idx="72">
                <c:v>1813</c:v>
              </c:pt>
              <c:pt idx="73">
                <c:v>1754</c:v>
              </c:pt>
              <c:pt idx="74">
                <c:v>1795</c:v>
              </c:pt>
              <c:pt idx="75">
                <c:v>1769</c:v>
              </c:pt>
              <c:pt idx="76">
                <c:v>1804</c:v>
              </c:pt>
              <c:pt idx="77">
                <c:v>1751</c:v>
              </c:pt>
              <c:pt idx="78">
                <c:v>1746</c:v>
              </c:pt>
              <c:pt idx="79">
                <c:v>1735</c:v>
              </c:pt>
              <c:pt idx="80">
                <c:v>2122</c:v>
              </c:pt>
              <c:pt idx="81">
                <c:v>2694</c:v>
              </c:pt>
              <c:pt idx="82">
                <c:v>2843</c:v>
              </c:pt>
              <c:pt idx="83">
                <c:v>2227</c:v>
              </c:pt>
              <c:pt idx="84">
                <c:v>1971</c:v>
              </c:pt>
              <c:pt idx="85">
                <c:v>1842</c:v>
              </c:pt>
              <c:pt idx="86">
                <c:v>1812</c:v>
              </c:pt>
              <c:pt idx="87">
                <c:v>1747</c:v>
              </c:pt>
              <c:pt idx="88">
                <c:v>1786</c:v>
              </c:pt>
              <c:pt idx="89">
                <c:v>1795</c:v>
              </c:pt>
              <c:pt idx="90">
                <c:v>1840</c:v>
              </c:pt>
              <c:pt idx="91">
                <c:v>1813</c:v>
              </c:pt>
              <c:pt idx="92">
                <c:v>1879</c:v>
              </c:pt>
              <c:pt idx="93">
                <c:v>1873</c:v>
              </c:pt>
              <c:pt idx="94">
                <c:v>1936</c:v>
              </c:pt>
              <c:pt idx="95">
                <c:v>1945</c:v>
              </c:pt>
              <c:pt idx="96">
                <c:v>2038</c:v>
              </c:pt>
              <c:pt idx="97">
                <c:v>2042</c:v>
              </c:pt>
              <c:pt idx="98">
                <c:v>2144</c:v>
              </c:pt>
              <c:pt idx="99">
                <c:v>2116</c:v>
              </c:pt>
              <c:pt idx="100">
                <c:v>2182</c:v>
              </c:pt>
              <c:pt idx="101">
                <c:v>2196</c:v>
              </c:pt>
              <c:pt idx="102">
                <c:v>2205</c:v>
              </c:pt>
              <c:pt idx="103">
                <c:v>2157</c:v>
              </c:pt>
              <c:pt idx="104">
                <c:v>2174</c:v>
              </c:pt>
              <c:pt idx="105">
                <c:v>2074</c:v>
              </c:pt>
              <c:pt idx="106">
                <c:v>2008</c:v>
              </c:pt>
              <c:pt idx="107">
                <c:v>1899</c:v>
              </c:pt>
              <c:pt idx="108">
                <c:v>1868</c:v>
              </c:pt>
              <c:pt idx="109">
                <c:v>1756</c:v>
              </c:pt>
              <c:pt idx="110">
                <c:v>1788</c:v>
              </c:pt>
              <c:pt idx="111">
                <c:v>1755</c:v>
              </c:pt>
              <c:pt idx="112">
                <c:v>1735</c:v>
              </c:pt>
              <c:pt idx="113">
                <c:v>1737</c:v>
              </c:pt>
              <c:pt idx="114">
                <c:v>1739</c:v>
              </c:pt>
              <c:pt idx="115">
                <c:v>1712</c:v>
              </c:pt>
              <c:pt idx="116">
                <c:v>1713</c:v>
              </c:pt>
              <c:pt idx="117">
                <c:v>1685</c:v>
              </c:pt>
              <c:pt idx="118">
                <c:v>1737</c:v>
              </c:pt>
              <c:pt idx="119">
                <c:v>1707</c:v>
              </c:pt>
              <c:pt idx="120">
                <c:v>1718</c:v>
              </c:pt>
              <c:pt idx="121">
                <c:v>1701</c:v>
              </c:pt>
              <c:pt idx="122">
                <c:v>1735</c:v>
              </c:pt>
              <c:pt idx="123">
                <c:v>1709</c:v>
              </c:pt>
              <c:pt idx="124">
                <c:v>1751</c:v>
              </c:pt>
              <c:pt idx="125">
                <c:v>1677</c:v>
              </c:pt>
              <c:pt idx="126">
                <c:v>1729</c:v>
              </c:pt>
              <c:pt idx="127">
                <c:v>1687</c:v>
              </c:pt>
              <c:pt idx="128">
                <c:v>1683</c:v>
              </c:pt>
              <c:pt idx="129">
                <c:v>1686</c:v>
              </c:pt>
              <c:pt idx="130">
                <c:v>1741</c:v>
              </c:pt>
              <c:pt idx="131">
                <c:v>1723</c:v>
              </c:pt>
              <c:pt idx="132">
                <c:v>1782</c:v>
              </c:pt>
              <c:pt idx="133">
                <c:v>1778</c:v>
              </c:pt>
              <c:pt idx="134">
                <c:v>1838</c:v>
              </c:pt>
              <c:pt idx="135">
                <c:v>1862</c:v>
              </c:pt>
              <c:pt idx="136">
                <c:v>1902</c:v>
              </c:pt>
              <c:pt idx="137">
                <c:v>1866</c:v>
              </c:pt>
              <c:pt idx="138">
                <c:v>1830</c:v>
              </c:pt>
              <c:pt idx="139">
                <c:v>1805</c:v>
              </c:pt>
              <c:pt idx="140">
                <c:v>1825</c:v>
              </c:pt>
              <c:pt idx="141">
                <c:v>1753</c:v>
              </c:pt>
              <c:pt idx="142">
                <c:v>1778</c:v>
              </c:pt>
              <c:pt idx="143">
                <c:v>1805</c:v>
              </c:pt>
              <c:pt idx="144">
                <c:v>1838</c:v>
              </c:pt>
              <c:pt idx="145">
                <c:v>1839</c:v>
              </c:pt>
              <c:pt idx="146">
                <c:v>1835</c:v>
              </c:pt>
              <c:pt idx="147">
                <c:v>1780</c:v>
              </c:pt>
              <c:pt idx="148">
                <c:v>1819</c:v>
              </c:pt>
              <c:pt idx="149">
                <c:v>2201</c:v>
              </c:pt>
              <c:pt idx="150">
                <c:v>2883</c:v>
              </c:pt>
              <c:pt idx="151">
                <c:v>2841</c:v>
              </c:pt>
              <c:pt idx="152">
                <c:v>2357</c:v>
              </c:pt>
              <c:pt idx="153">
                <c:v>2067</c:v>
              </c:pt>
              <c:pt idx="154">
                <c:v>1915</c:v>
              </c:pt>
              <c:pt idx="155">
                <c:v>1829</c:v>
              </c:pt>
              <c:pt idx="156">
                <c:v>1798</c:v>
              </c:pt>
              <c:pt idx="157">
                <c:v>1805</c:v>
              </c:pt>
              <c:pt idx="158">
                <c:v>1833</c:v>
              </c:pt>
              <c:pt idx="159">
                <c:v>1819</c:v>
              </c:pt>
              <c:pt idx="160">
                <c:v>1874</c:v>
              </c:pt>
              <c:pt idx="161">
                <c:v>1875</c:v>
              </c:pt>
              <c:pt idx="162">
                <c:v>1925</c:v>
              </c:pt>
              <c:pt idx="163">
                <c:v>1923</c:v>
              </c:pt>
              <c:pt idx="164">
                <c:v>1981</c:v>
              </c:pt>
              <c:pt idx="165">
                <c:v>1954</c:v>
              </c:pt>
              <c:pt idx="166">
                <c:v>2037</c:v>
              </c:pt>
              <c:pt idx="167">
                <c:v>2079</c:v>
              </c:pt>
              <c:pt idx="168">
                <c:v>2149</c:v>
              </c:pt>
              <c:pt idx="169">
                <c:v>2179</c:v>
              </c:pt>
              <c:pt idx="170">
                <c:v>2196</c:v>
              </c:pt>
              <c:pt idx="171">
                <c:v>2172</c:v>
              </c:pt>
              <c:pt idx="172">
                <c:v>2178</c:v>
              </c:pt>
              <c:pt idx="173">
                <c:v>2130</c:v>
              </c:pt>
              <c:pt idx="174">
                <c:v>2074</c:v>
              </c:pt>
              <c:pt idx="175">
                <c:v>1976</c:v>
              </c:pt>
              <c:pt idx="176">
                <c:v>1916</c:v>
              </c:pt>
              <c:pt idx="177">
                <c:v>1836</c:v>
              </c:pt>
              <c:pt idx="178">
                <c:v>1849</c:v>
              </c:pt>
              <c:pt idx="179">
                <c:v>1817</c:v>
              </c:pt>
              <c:pt idx="180">
                <c:v>1768</c:v>
              </c:pt>
              <c:pt idx="181">
                <c:v>1789</c:v>
              </c:pt>
              <c:pt idx="182">
                <c:v>1774</c:v>
              </c:pt>
              <c:pt idx="183">
                <c:v>1744</c:v>
              </c:pt>
              <c:pt idx="184">
                <c:v>1782</c:v>
              </c:pt>
              <c:pt idx="185">
                <c:v>1768</c:v>
              </c:pt>
              <c:pt idx="186">
                <c:v>1760</c:v>
              </c:pt>
              <c:pt idx="187">
                <c:v>1791</c:v>
              </c:pt>
              <c:pt idx="188">
                <c:v>1781</c:v>
              </c:pt>
              <c:pt idx="189">
                <c:v>1771</c:v>
              </c:pt>
              <c:pt idx="190">
                <c:v>1819</c:v>
              </c:pt>
              <c:pt idx="191">
                <c:v>1786</c:v>
              </c:pt>
              <c:pt idx="192">
                <c:v>1820</c:v>
              </c:pt>
              <c:pt idx="193">
                <c:v>1828</c:v>
              </c:pt>
              <c:pt idx="194">
                <c:v>1816</c:v>
              </c:pt>
              <c:pt idx="195">
                <c:v>1823</c:v>
              </c:pt>
              <c:pt idx="196">
                <c:v>1831</c:v>
              </c:pt>
              <c:pt idx="197">
                <c:v>1848</c:v>
              </c:pt>
              <c:pt idx="198">
                <c:v>1849</c:v>
              </c:pt>
              <c:pt idx="199">
                <c:v>1841</c:v>
              </c:pt>
              <c:pt idx="200">
                <c:v>1896</c:v>
              </c:pt>
              <c:pt idx="201">
                <c:v>1907</c:v>
              </c:pt>
              <c:pt idx="202">
                <c:v>1929</c:v>
              </c:pt>
              <c:pt idx="203">
                <c:v>1968</c:v>
              </c:pt>
              <c:pt idx="204">
                <c:v>1956</c:v>
              </c:pt>
              <c:pt idx="205">
                <c:v>2002</c:v>
              </c:pt>
              <c:pt idx="206">
                <c:v>2054</c:v>
              </c:pt>
              <c:pt idx="207">
                <c:v>2013</c:v>
              </c:pt>
              <c:pt idx="208">
                <c:v>1963</c:v>
              </c:pt>
              <c:pt idx="209">
                <c:v>1946</c:v>
              </c:pt>
              <c:pt idx="210">
                <c:v>1956</c:v>
              </c:pt>
              <c:pt idx="211">
                <c:v>1980</c:v>
              </c:pt>
              <c:pt idx="212">
                <c:v>1965</c:v>
              </c:pt>
              <c:pt idx="213">
                <c:v>1957</c:v>
              </c:pt>
              <c:pt idx="214">
                <c:v>1963</c:v>
              </c:pt>
              <c:pt idx="215">
                <c:v>1964</c:v>
              </c:pt>
              <c:pt idx="216">
                <c:v>1975</c:v>
              </c:pt>
              <c:pt idx="217">
                <c:v>1969</c:v>
              </c:pt>
              <c:pt idx="218">
                <c:v>1941</c:v>
              </c:pt>
              <c:pt idx="219">
                <c:v>2194</c:v>
              </c:pt>
              <c:pt idx="220">
                <c:v>2851</c:v>
              </c:pt>
              <c:pt idx="221">
                <c:v>3244</c:v>
              </c:pt>
              <c:pt idx="222">
                <c:v>2734</c:v>
              </c:pt>
              <c:pt idx="223">
                <c:v>2361</c:v>
              </c:pt>
              <c:pt idx="224">
                <c:v>2222</c:v>
              </c:pt>
              <c:pt idx="225">
                <c:v>2144</c:v>
              </c:pt>
              <c:pt idx="226">
                <c:v>2094</c:v>
              </c:pt>
              <c:pt idx="227">
                <c:v>2054</c:v>
              </c:pt>
              <c:pt idx="228">
                <c:v>2070</c:v>
              </c:pt>
              <c:pt idx="229">
                <c:v>2107</c:v>
              </c:pt>
              <c:pt idx="230">
                <c:v>2118</c:v>
              </c:pt>
              <c:pt idx="231">
                <c:v>2181</c:v>
              </c:pt>
              <c:pt idx="232">
                <c:v>2175</c:v>
              </c:pt>
              <c:pt idx="233">
                <c:v>2199</c:v>
              </c:pt>
              <c:pt idx="234">
                <c:v>2232</c:v>
              </c:pt>
              <c:pt idx="235">
                <c:v>2272</c:v>
              </c:pt>
              <c:pt idx="236">
                <c:v>2302</c:v>
              </c:pt>
              <c:pt idx="237">
                <c:v>2353</c:v>
              </c:pt>
              <c:pt idx="238">
                <c:v>2396</c:v>
              </c:pt>
              <c:pt idx="239">
                <c:v>2428</c:v>
              </c:pt>
              <c:pt idx="240">
                <c:v>2454</c:v>
              </c:pt>
              <c:pt idx="241">
                <c:v>2479</c:v>
              </c:pt>
              <c:pt idx="242">
                <c:v>2457</c:v>
              </c:pt>
              <c:pt idx="243">
                <c:v>2428</c:v>
              </c:pt>
              <c:pt idx="244">
                <c:v>2360</c:v>
              </c:pt>
              <c:pt idx="245">
                <c:v>2273</c:v>
              </c:pt>
              <c:pt idx="246">
                <c:v>2186</c:v>
              </c:pt>
              <c:pt idx="247">
                <c:v>2122</c:v>
              </c:pt>
              <c:pt idx="248">
                <c:v>2040</c:v>
              </c:pt>
              <c:pt idx="249">
                <c:v>2002</c:v>
              </c:pt>
              <c:pt idx="250">
                <c:v>1993</c:v>
              </c:pt>
              <c:pt idx="251">
                <c:v>1984</c:v>
              </c:pt>
              <c:pt idx="252">
                <c:v>1988</c:v>
              </c:pt>
              <c:pt idx="253">
                <c:v>1968</c:v>
              </c:pt>
              <c:pt idx="254">
                <c:v>1939</c:v>
              </c:pt>
              <c:pt idx="255">
                <c:v>1973</c:v>
              </c:pt>
              <c:pt idx="256">
                <c:v>1957</c:v>
              </c:pt>
              <c:pt idx="257">
                <c:v>1967</c:v>
              </c:pt>
              <c:pt idx="258">
                <c:v>1970</c:v>
              </c:pt>
              <c:pt idx="259">
                <c:v>1991</c:v>
              </c:pt>
              <c:pt idx="260">
                <c:v>1997</c:v>
              </c:pt>
              <c:pt idx="261">
                <c:v>2016</c:v>
              </c:pt>
              <c:pt idx="262">
                <c:v>1982</c:v>
              </c:pt>
              <c:pt idx="263">
                <c:v>1997</c:v>
              </c:pt>
              <c:pt idx="264">
                <c:v>1974</c:v>
              </c:pt>
              <c:pt idx="265">
                <c:v>2005</c:v>
              </c:pt>
              <c:pt idx="266">
                <c:v>1980</c:v>
              </c:pt>
              <c:pt idx="267">
                <c:v>2026</c:v>
              </c:pt>
              <c:pt idx="268">
                <c:v>1985</c:v>
              </c:pt>
              <c:pt idx="269">
                <c:v>1997</c:v>
              </c:pt>
              <c:pt idx="270">
                <c:v>1966</c:v>
              </c:pt>
              <c:pt idx="271">
                <c:v>1965</c:v>
              </c:pt>
              <c:pt idx="272">
                <c:v>1952</c:v>
              </c:pt>
              <c:pt idx="273">
                <c:v>2000</c:v>
              </c:pt>
              <c:pt idx="274">
                <c:v>2006</c:v>
              </c:pt>
              <c:pt idx="275">
                <c:v>2026</c:v>
              </c:pt>
              <c:pt idx="276">
                <c:v>2049</c:v>
              </c:pt>
              <c:pt idx="277">
                <c:v>2029</c:v>
              </c:pt>
              <c:pt idx="278">
                <c:v>1979</c:v>
              </c:pt>
              <c:pt idx="279">
                <c:v>1934</c:v>
              </c:pt>
              <c:pt idx="280">
                <c:v>1905</c:v>
              </c:pt>
              <c:pt idx="281">
                <c:v>1948</c:v>
              </c:pt>
              <c:pt idx="282">
                <c:v>1895</c:v>
              </c:pt>
              <c:pt idx="283">
                <c:v>1911</c:v>
              </c:pt>
              <c:pt idx="284">
                <c:v>1888</c:v>
              </c:pt>
              <c:pt idx="285">
                <c:v>1901</c:v>
              </c:pt>
              <c:pt idx="286">
                <c:v>1883</c:v>
              </c:pt>
              <c:pt idx="287">
                <c:v>1853</c:v>
              </c:pt>
              <c:pt idx="288">
                <c:v>1878</c:v>
              </c:pt>
              <c:pt idx="289">
                <c:v>2314</c:v>
              </c:pt>
              <c:pt idx="290">
                <c:v>2985</c:v>
              </c:pt>
              <c:pt idx="291">
                <c:v>2977</c:v>
              </c:pt>
              <c:pt idx="292">
                <c:v>2404</c:v>
              </c:pt>
              <c:pt idx="293">
                <c:v>2146</c:v>
              </c:pt>
              <c:pt idx="294">
                <c:v>2002</c:v>
              </c:pt>
              <c:pt idx="295">
                <c:v>1981</c:v>
              </c:pt>
              <c:pt idx="296">
                <c:v>1908</c:v>
              </c:pt>
              <c:pt idx="297">
                <c:v>1933</c:v>
              </c:pt>
              <c:pt idx="298">
                <c:v>1911</c:v>
              </c:pt>
              <c:pt idx="299">
                <c:v>1899</c:v>
              </c:pt>
              <c:pt idx="300">
                <c:v>1916</c:v>
              </c:pt>
              <c:pt idx="301">
                <c:v>1975</c:v>
              </c:pt>
              <c:pt idx="302">
                <c:v>1955</c:v>
              </c:pt>
              <c:pt idx="303">
                <c:v>2008</c:v>
              </c:pt>
              <c:pt idx="304">
                <c:v>1998</c:v>
              </c:pt>
              <c:pt idx="305">
                <c:v>2081</c:v>
              </c:pt>
              <c:pt idx="306">
                <c:v>2076</c:v>
              </c:pt>
              <c:pt idx="307">
                <c:v>2155</c:v>
              </c:pt>
              <c:pt idx="308">
                <c:v>2114</c:v>
              </c:pt>
              <c:pt idx="309">
                <c:v>2177</c:v>
              </c:pt>
              <c:pt idx="310">
                <c:v>2190</c:v>
              </c:pt>
              <c:pt idx="311">
                <c:v>2190</c:v>
              </c:pt>
              <c:pt idx="312">
                <c:v>2157</c:v>
              </c:pt>
              <c:pt idx="313">
                <c:v>2104</c:v>
              </c:pt>
              <c:pt idx="314">
                <c:v>2024</c:v>
              </c:pt>
              <c:pt idx="315">
                <c:v>1996</c:v>
              </c:pt>
              <c:pt idx="316">
                <c:v>1888</c:v>
              </c:pt>
              <c:pt idx="317">
                <c:v>1842</c:v>
              </c:pt>
              <c:pt idx="318">
                <c:v>1785</c:v>
              </c:pt>
              <c:pt idx="319">
                <c:v>1811</c:v>
              </c:pt>
              <c:pt idx="320">
                <c:v>1741</c:v>
              </c:pt>
              <c:pt idx="321">
                <c:v>1722</c:v>
              </c:pt>
              <c:pt idx="322">
                <c:v>1665</c:v>
              </c:pt>
              <c:pt idx="323">
                <c:v>1724</c:v>
              </c:pt>
            </c:numLit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5F7FA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5F7FA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9f0f63dc54af8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CE48A-5636-4070-BE9A-3E085E0C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2CD96-4414-426B-8956-60B846A7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SupaClock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DB9AC-E71A-4BD6-BCBE-0251AB08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9D2FF"/>
                </a:solidFill>
              </a:defRPr>
            </a:pPr>
            <a:r>
              <a:rPr sz="1950" b="0">
                <a:solidFill>
                  <a:srgbClr val="B9D2FF"/>
                </a:solidFill>
              </a:rPr>
              <a:t>Entrega 4 · Avance 90%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4BF01-A81D-431E-905B-F70BDADE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447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ECG en PCB · Machine Learning · Ruta al 100%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8E4FC5-D8EC-42A2-95DD-2807B1C1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668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FB9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327F1-D2E7-4D64-B378-7B824A7B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81425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90%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9FDC9-E510-4EB8-B65F-42FDA0DD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6385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CEAFF"/>
                </a:solidFill>
              </a:defRPr>
            </a:pPr>
            <a:r>
              <a:rPr sz="1575" b="0">
                <a:solidFill>
                  <a:srgbClr val="DCEAFF"/>
                </a:solidFill>
              </a:rPr>
              <a:t>prototipo funcional con cierre pendiente de industrialización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B404FF-CB26-45D7-840A-AA85892E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3E8"/>
                </a:solidFill>
              </a:defRPr>
            </a:pPr>
            <a:r>
              <a:rPr sz="1200" b="0">
                <a:solidFill>
                  <a:srgbClr val="AFC3E8"/>
                </a:solidFill>
              </a:rPr>
              <a:t>Grupo 10 · Ingeniería Eléctrica</a:t>
            </a:r>
          </a:p>
        </p:txBody>
      </p:sp>
    </p:spTree>
    <p:extLst>
      <p:ext uri="{BB962C8B-B14F-4D97-AF65-F5344CB8AC3E}">
        <p14:creationId xmlns:p14="http://schemas.microsoft.com/office/powerpoint/2010/main" val="20354180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53566B-6010-4062-951F-6316E153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6EB8"/>
                </a:solidFill>
              </a:defRPr>
            </a:pPr>
            <a:r>
              <a:rPr sz="975" b="1">
                <a:solidFill>
                  <a:srgbClr val="396EB8"/>
                </a:solidFill>
              </a:rPr>
              <a:t>TESIS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95927-3765-403B-9E42-1847BBDB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La historia de esta entrega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D758A-EBF5-4848-89C9-2D7BD622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2CB8A-595B-46C0-848D-C17CE979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</a:defRPr>
            </a:pPr>
            <a:r>
              <a:rPr sz="975" b="0">
                <a:solidFill>
                  <a:srgbClr val="5B667A"/>
                </a:solidFill>
              </a:rPr>
              <a:t>SupaClock · Entrega 4 · Avance 90%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FAA05-2112-4EC5-AD6D-A745FB20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67A"/>
                </a:solidFill>
              </a:defRPr>
            </a:pPr>
            <a:r>
              <a:rPr sz="975" b="0">
                <a:solidFill>
                  <a:srgbClr val="5B667A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D6B47-ED36-4CD7-A035-4BCE0668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685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</a:defRPr>
            </a:pPr>
            <a:r>
              <a:rPr sz="2250" b="1">
                <a:solidFill>
                  <a:srgbClr val="172033"/>
                </a:solidFill>
              </a:rPr>
              <a:t>Ya no estamos demostrando sensores aislados: estamos demostrando una unidad wearable que mide, transmite y aprende.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747BD-0762-4225-8892-4C04A3FF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• ECG funcionando desde la PCB y transmitido a la app por BLE.</a:t>
            </a:r>
          </a:p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• Pipeline HAR/TinyML con entrenamiento, exportación TFLite y ejecución embebida.</a:t>
            </a:r>
          </a:p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• Cierre técnico pendiente: manufactura externa, carcasa final y validación integrada.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FF9DE-5CB7-4CB5-AD75-C210A134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371475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D1AF5-FAA5-4C41-BC64-A4EF3BC4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57400"/>
            <a:ext cx="266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450" b="1">
                <a:solidFill>
                  <a:srgbClr val="396EB8"/>
                </a:solidFill>
              </a:defRPr>
            </a:pPr>
            <a:r>
              <a:rPr sz="6450" b="1">
                <a:solidFill>
                  <a:srgbClr val="396EB8"/>
                </a:solidFill>
              </a:rPr>
              <a:t>90%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7AD5F-BBA5-43B3-BB4E-DDD7D0FE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385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Funcionamiento demostrado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F381E8-089F-4308-AFFA-CD68874D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62375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B667A"/>
                </a:solidFill>
              </a:defRPr>
            </a:pPr>
            <a:r>
              <a:rPr sz="1500" b="0">
                <a:solidFill>
                  <a:srgbClr val="5B667A"/>
                </a:solidFill>
              </a:rPr>
              <a:t>El 10% restante no es “hacer que prenda”, sino cerrar repetibilidad, ergonomía y fabricación.</a:t>
            </a:r>
          </a:p>
        </p:txBody>
      </p:sp>
    </p:spTree>
    <p:extLst>
      <p:ext uri="{BB962C8B-B14F-4D97-AF65-F5344CB8AC3E}">
        <p14:creationId xmlns:p14="http://schemas.microsoft.com/office/powerpoint/2010/main" val="19982006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54A8AA-A5B3-4631-940A-5A6C16E9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6EB8"/>
                </a:solidFill>
              </a:defRPr>
            </a:pPr>
            <a:r>
              <a:rPr sz="975" b="1">
                <a:solidFill>
                  <a:srgbClr val="396EB8"/>
                </a:solidFill>
              </a:rPr>
              <a:t>AVANCE GENERAL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88026-A2F1-4089-B52D-6993892F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Estado del proyecto al 90%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FAEED-8372-43AE-9BE3-73DB72A9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AC4ED-F624-4C17-9E1B-0294E311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</a:defRPr>
            </a:pPr>
            <a:r>
              <a:rPr sz="975" b="0">
                <a:solidFill>
                  <a:srgbClr val="5B667A"/>
                </a:solidFill>
              </a:rPr>
              <a:t>SupaClock · Entrega 4 · Avance 90%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142F6-B8E8-4868-BE35-D3CD4395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67A"/>
                </a:solidFill>
              </a:defRPr>
            </a:pPr>
            <a:r>
              <a:rPr sz="975" b="0">
                <a:solidFill>
                  <a:srgbClr val="5B667A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1B0AD-AC3E-4D9D-9F06-850F5982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76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67A"/>
                </a:solidFill>
              </a:defRPr>
            </a:pPr>
            <a:r>
              <a:rPr sz="1125" b="1">
                <a:solidFill>
                  <a:srgbClr val="5B667A"/>
                </a:solidFill>
              </a:rPr>
              <a:t>Bloque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E74FC-9FE3-4D0F-AC19-5C473C19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67A"/>
                </a:solidFill>
              </a:defRPr>
            </a:pPr>
            <a:r>
              <a:rPr sz="1125" b="1">
                <a:solidFill>
                  <a:srgbClr val="5B667A"/>
                </a:solidFill>
              </a:rPr>
              <a:t>Estado actual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5119B-3823-409F-84C1-558BA5E3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763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67A"/>
                </a:solidFill>
              </a:defRPr>
            </a:pPr>
            <a:r>
              <a:rPr sz="1125" b="1">
                <a:solidFill>
                  <a:srgbClr val="5B667A"/>
                </a:solidFill>
              </a:rPr>
              <a:t>Cierre hacia 100%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4D11B-11F2-4F15-84EA-7B8062C5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4763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67A"/>
                </a:solidFill>
              </a:defRPr>
            </a:pPr>
            <a:r>
              <a:rPr sz="1125" b="1">
                <a:solidFill>
                  <a:srgbClr val="5B667A"/>
                </a:solidFill>
              </a:rPr>
              <a:t>Avance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2890B-6504-4A83-94B1-CAE81A2D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ECG + PCB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303688-C4B7-43A2-B41C-0DC2EE39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5262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Captura real y streaming BLE a ~500 Hz.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53515D-5C73-4E06-BA19-F9E5A9C8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Validar con carcasa cerrada y electrodos finales.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F5ADC0-8952-4BC6-A590-2DE8DD8A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9775"/>
            <a:ext cx="8191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CDB3D0-D641-495D-BBE3-AC5FBBFA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9775"/>
            <a:ext cx="73723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B9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BC78C0-6A76-49F9-83B2-33237620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 + 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EB9698-C59A-49CE-8AEC-8C2EB722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1937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Dashboard, modo dev, REC IMU/ECG y comandos.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7C73B8-0102-4B3F-9E4D-B29BDF17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19375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Pulir flujos de usuario y almacenamiento final.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3A722D-2718-442F-B4BC-0FB8C747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76525"/>
            <a:ext cx="8191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D98BFF-BF52-470A-8B8F-0ED9FEBD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76525"/>
            <a:ext cx="73723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B9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49F814-4CE2-4A81-B087-805F04B5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8612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Machine Learning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47E38F-35C8-41AC-A4F3-AE91B4EB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8612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CNN 1D/TFLite, ventana 200×6, modelo embebido.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070450-5C57-4082-BE91-877BFDAA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Dataset final + matriz de confusión con datos reales.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D255FE-E3B2-42C4-A698-9042F4A2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343275"/>
            <a:ext cx="8191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7AC197-3FAA-4F3F-8956-DB13DAE3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343275"/>
            <a:ext cx="638937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56ABA6-BBB5-426E-BC7B-ED26D8CA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PCB final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7BE212-1053-4BE5-9AE5-B6058764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5287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Carrier validado; v3/v4 orientada a JLCPCB.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35E4D0-7AE8-4865-8316-F692BA93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52875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DRC final, pedido y bring-up de placa china.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F8AC3E-32E2-4AEA-9402-523232BF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10025"/>
            <a:ext cx="8191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1431AB-8F0A-47C6-BEAA-C6D28CF7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10025"/>
            <a:ext cx="671703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DCED53-153F-4EBC-B173-E2F75BE2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Carcasa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EFBD72-65C6-4B8E-9B1B-A73997CA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1962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Prototipo impreso permitió detectar ajustes.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81CB96-65CE-46F1-AC20-0B0E0C15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19625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Rediseño compacto, sensores y montaje final.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EDE1C5-2F41-434F-9B6B-7C688D07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676775"/>
            <a:ext cx="8191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16A9CD-35B0-4A73-AB1E-C1673F75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676775"/>
            <a:ext cx="589788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8A130C-264F-437B-AA71-00EF10B3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51B50E-9C38-4708-805A-591F031E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96EB8"/>
                </a:solidFill>
              </a:defRPr>
            </a:pPr>
            <a:r>
              <a:rPr sz="1125" b="1">
                <a:solidFill>
                  <a:srgbClr val="396EB8"/>
                </a:solidFill>
              </a:rPr>
              <a:t>Mensaje clave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178E83-8E75-4B1D-B48A-4E5C81CA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7721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El avance no se mide solo por módulos listos: ahora el riesgo está en integración física, repetibilidad y manufactura.</a:t>
            </a:r>
          </a:p>
        </p:txBody>
      </p:sp>
    </p:spTree>
    <p:extLst>
      <p:ext uri="{BB962C8B-B14F-4D97-AF65-F5344CB8AC3E}">
        <p14:creationId xmlns:p14="http://schemas.microsoft.com/office/powerpoint/2010/main" val="11342693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20C365-2D00-440F-AF8D-C39644AF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6EB8"/>
                </a:solidFill>
              </a:defRPr>
            </a:pPr>
            <a:r>
              <a:rPr sz="975" b="1">
                <a:solidFill>
                  <a:srgbClr val="396EB8"/>
                </a:solidFill>
              </a:rPr>
              <a:t>EVIDENCIA PRINCIPAL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200DE-DB93-472C-B4B7-5A63B557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ECG funcionando en la PCB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E88D5-F3BB-4FA9-B4E7-7A1C65B9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77A8C-BE0E-467F-95D0-8BD91F0B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</a:defRPr>
            </a:pPr>
            <a:r>
              <a:rPr sz="975" b="0">
                <a:solidFill>
                  <a:srgbClr val="5B667A"/>
                </a:solidFill>
              </a:rPr>
              <a:t>SupaClock · Entrega 4 · Avance 90%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70CD5-364F-4AA5-896C-5B40C5C5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67A"/>
                </a:solidFill>
              </a:defRPr>
            </a:pPr>
            <a:r>
              <a:rPr sz="975" b="0">
                <a:solidFill>
                  <a:srgbClr val="5B667A"/>
                </a:solidFill>
              </a:rPr>
              <a:t>04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8a490d882d4f50"/>
          <a:srcRect xmlns:a="http://schemas.openxmlformats.org/drawingml/2006/main" l="0" t="6725" r="0" b="67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62100"/>
            <a:ext cx="5429250" cy="3524250"/>
          </a:xfrm>
          <a:prstGeom xmlns:a="http://schemas.openxmlformats.org/drawingml/2006/main" prst="roundRect">
            <a:avLst>
              <a:gd name="adj" fmla="val 432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E8887-94A5-4B5A-AFB6-A5EC84B5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38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Qué se valida aquí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6B485-810D-4245-8D0D-C05958E4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9800"/>
            <a:ext cx="4286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AD8232 integrado al carrier: electrodos → acondicionamiento analógico → ADC.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El firmware activa/detiene streaming ECG desde app o menú.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La app recibe paquetes BLE 0xFF03 y puede grabar la señal cruda.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El prototipo físico dejó aprendizajes reales de contacto, altura y montaje.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C255E0-E7DD-4B3C-9EE7-835ECDC5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29150"/>
            <a:ext cx="4095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FF4"/>
          </a:solidFill>
          <a:ln xmlns:a="http://schemas.openxmlformats.org/drawingml/2006/main" w="9525">
            <a:solidFill>
              <a:srgbClr val="CBEB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F62B5F-9CBB-4362-8336-CE21F284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625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FB950"/>
                </a:solidFill>
              </a:defRPr>
            </a:pPr>
            <a:r>
              <a:rPr sz="1200" b="1">
                <a:solidFill>
                  <a:srgbClr val="3FB950"/>
                </a:solidFill>
              </a:rPr>
              <a:t>Resultado de la entrega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4AFBB-98D6-4FFF-B221-1651259A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911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La señal ECG ya no depende de protoboard; corre desde la integración física del reloj.</a:t>
            </a:r>
          </a:p>
        </p:txBody>
      </p:sp>
    </p:spTree>
    <p:extLst>
      <p:ext uri="{BB962C8B-B14F-4D97-AF65-F5344CB8AC3E}">
        <p14:creationId xmlns:p14="http://schemas.microsoft.com/office/powerpoint/2010/main" val="11649937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FC52D4-C44B-4FB5-8F7D-AF862D02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6EB8"/>
                </a:solidFill>
              </a:defRPr>
            </a:pPr>
            <a:r>
              <a:rPr sz="975" b="1">
                <a:solidFill>
                  <a:srgbClr val="396EB8"/>
                </a:solidFill>
              </a:rPr>
              <a:t>MEDICIÓN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F728F-2EC9-40FC-9FB3-C623B68F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Señal ECG real: adquisición y transmisión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9BEBC-EC55-429D-A649-D520540A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81BE4-9CEB-4663-A188-ED69D110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</a:defRPr>
            </a:pPr>
            <a:r>
              <a:rPr sz="975" b="0">
                <a:solidFill>
                  <a:srgbClr val="5B667A"/>
                </a:solidFill>
              </a:rPr>
              <a:t>SupaClock · Entrega 4 · Avance 90%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6D5996-60E7-4308-8BEB-F3E77067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67A"/>
                </a:solidFill>
              </a:defRPr>
            </a:pPr>
            <a:r>
              <a:rPr sz="975" b="0">
                <a:solidFill>
                  <a:srgbClr val="5B667A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3AD15-4836-46D9-A19D-A4CA46E9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543800" cy="3486150"/>
          </a:xfrm>
          <a:prstGeom xmlns:a="http://schemas.openxmlformats.org/drawingml/2006/main" prst="roundRect">
            <a:avLst>
              <a:gd name="adj" fmla="val 4372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952500" y="1885950"/>
          <a:ext xmlns:a="http://schemas.openxmlformats.org/drawingml/2006/main" cx="7000875" cy="2590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2dd651272145bc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8C69B-B11B-4219-B4D6-E97DB55F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3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A"/>
                </a:solidFill>
              </a:defRPr>
            </a:pPr>
            <a:r>
              <a:rPr sz="1275" b="0">
                <a:solidFill>
                  <a:srgbClr val="5B667A"/>
                </a:solidFill>
              </a:rPr>
              <a:t>Segmento de ECG crudo desde captura interna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324D59-4102-4977-8578-89A775B2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811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96EB8"/>
                </a:solidFill>
              </a:defRPr>
            </a:pPr>
            <a:r>
              <a:rPr sz="2550" b="1">
                <a:solidFill>
                  <a:srgbClr val="396EB8"/>
                </a:solidFill>
              </a:rPr>
              <a:t>23.400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E32A6E-DE51-46F1-96CA-A376E64A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097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A"/>
                </a:solidFill>
              </a:defRPr>
            </a:pPr>
            <a:r>
              <a:rPr sz="1200" b="0">
                <a:solidFill>
                  <a:srgbClr val="5B667A"/>
                </a:solidFill>
              </a:rPr>
              <a:t>muestras registradas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0CE2EA-9EF3-48C4-B962-5A755884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527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96EB8"/>
                </a:solidFill>
              </a:defRPr>
            </a:pPr>
            <a:r>
              <a:rPr sz="2550" b="1">
                <a:solidFill>
                  <a:srgbClr val="396EB8"/>
                </a:solidFill>
              </a:rPr>
              <a:t>46.8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9A04A-6E98-4819-95F2-DBFFC713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813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A"/>
                </a:solidFill>
              </a:defRPr>
            </a:pPr>
            <a:r>
              <a:rPr sz="1200" b="0">
                <a:solidFill>
                  <a:srgbClr val="5B667A"/>
                </a:solidFill>
              </a:rPr>
              <a:t>duración capturada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02A007-26B0-42FB-A9D4-83A0958C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242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96EB8"/>
                </a:solidFill>
              </a:defRPr>
            </a:pPr>
            <a:r>
              <a:rPr sz="2550" b="1">
                <a:solidFill>
                  <a:srgbClr val="396EB8"/>
                </a:solidFill>
              </a:rPr>
              <a:t>500.2 Hz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8066F4-EEE5-4363-8DE0-83BACBFB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528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A"/>
                </a:solidFill>
              </a:defRPr>
            </a:pPr>
            <a:r>
              <a:rPr sz="1200" b="0">
                <a:solidFill>
                  <a:srgbClr val="5B667A"/>
                </a:solidFill>
              </a:rPr>
              <a:t>frecuencia estimada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3E7172-6EED-4664-829F-89CC033F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958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96EB8"/>
                </a:solidFill>
              </a:defRPr>
            </a:pPr>
            <a:r>
              <a:rPr sz="2550" b="1">
                <a:solidFill>
                  <a:srgbClr val="396EB8"/>
                </a:solidFill>
              </a:rPr>
              <a:t>1143–3447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8E5F72-3BC3-445D-BB7E-7E70532D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244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A"/>
                </a:solidFill>
              </a:defRPr>
            </a:pPr>
            <a:r>
              <a:rPr sz="1200" b="0">
                <a:solidFill>
                  <a:srgbClr val="5B667A"/>
                </a:solidFill>
              </a:rPr>
              <a:t>rango ADC raw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3B632D-D929-44B9-A285-042D3F36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820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3B419F-D268-4B2F-8AC2-5B9DC877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4355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Cadena validada: PCB/AD8232 → ADC/DMA → paquetes BLE 20 B (10×int16) → Flutter → CSV/app.</a:t>
            </a:r>
          </a:p>
        </p:txBody>
      </p:sp>
    </p:spTree>
    <p:extLst>
      <p:ext uri="{BB962C8B-B14F-4D97-AF65-F5344CB8AC3E}">
        <p14:creationId xmlns:p14="http://schemas.microsoft.com/office/powerpoint/2010/main" val="17911167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0F198B-1CBD-4DEA-B6D1-981E601B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6EB8"/>
                </a:solidFill>
              </a:defRPr>
            </a:pPr>
            <a:r>
              <a:rPr sz="975" b="1">
                <a:solidFill>
                  <a:srgbClr val="396EB8"/>
                </a:solidFill>
              </a:rPr>
              <a:t>HAR / DETECCIÓN DE ACTIVIDAD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E5898-4B1A-422E-A243-7D10B20D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Avances de Machine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83138-055E-4B07-A9C8-986B2C6E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532EA-4A59-45A8-A749-3E42CA8B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</a:defRPr>
            </a:pPr>
            <a:r>
              <a:rPr sz="975" b="0">
                <a:solidFill>
                  <a:srgbClr val="5B667A"/>
                </a:solidFill>
              </a:rPr>
              <a:t>SupaClock · Entrega 4 · Avance 90%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11964-94B5-4C52-BE41-15036B55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67A"/>
                </a:solidFill>
              </a:defRPr>
            </a:pPr>
            <a:r>
              <a:rPr sz="975" b="0">
                <a:solidFill>
                  <a:srgbClr val="5B667A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194FB-48FD-48B4-976C-B7828E20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</a:defRPr>
            </a:pPr>
            <a:r>
              <a:rPr sz="2250" b="1">
                <a:solidFill>
                  <a:srgbClr val="172033"/>
                </a:solidFill>
              </a:rPr>
              <a:t>Modelo de actividad humana desplegable en el reloj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5F0FE5-495D-45A2-9A44-8435F49C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1809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01BE4-AD00-4A5F-8BDF-3F03C9E3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BMI160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4D8D0-D9EE-44E8-947C-D511C603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860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67A"/>
                </a:solidFill>
              </a:defRPr>
            </a:pPr>
            <a:r>
              <a:rPr sz="1275" b="0">
                <a:solidFill>
                  <a:srgbClr val="5B667A"/>
                </a:solidFill>
              </a:rPr>
              <a:t>IMU 6 ejes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451AC7-6EDD-4FAC-951E-B75D6D6D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479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96EB8"/>
                </a:solidFill>
              </a:defRPr>
            </a:pPr>
            <a:r>
              <a:rPr sz="2550" b="1">
                <a:solidFill>
                  <a:srgbClr val="396EB8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E57902-D17D-479F-A1B8-4ECA12BC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05050"/>
            <a:ext cx="1809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AE69E7-6D96-4DBE-88E3-2F717C65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95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Ventana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467526-EBE1-46E5-B668-1F68F815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860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67A"/>
                </a:solidFill>
              </a:defRPr>
            </a:pPr>
            <a:r>
              <a:rPr sz="1275" b="0">
                <a:solidFill>
                  <a:srgbClr val="5B667A"/>
                </a:solidFill>
              </a:rPr>
              <a:t>200×6 · 4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F668A0-ACFE-4D6A-BA1A-F357F95A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479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96EB8"/>
                </a:solidFill>
              </a:defRPr>
            </a:pPr>
            <a:r>
              <a:rPr sz="2550" b="1">
                <a:solidFill>
                  <a:srgbClr val="396EB8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9B902D-4669-482C-9321-D3088F71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809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DF8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58C8F8-4B62-49C2-9E28-9BA5706F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95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96EB8"/>
                </a:solidFill>
              </a:defRPr>
            </a:pPr>
            <a:r>
              <a:rPr sz="1800" b="1">
                <a:solidFill>
                  <a:srgbClr val="396EB8"/>
                </a:solidFill>
              </a:rPr>
              <a:t>CNN 1D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049F48-827A-4424-9232-43494B30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860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67A"/>
                </a:solidFill>
              </a:defRPr>
            </a:pPr>
            <a:r>
              <a:rPr sz="1275" b="0">
                <a:solidFill>
                  <a:srgbClr val="5B667A"/>
                </a:solidFill>
              </a:rPr>
              <a:t>3 Conv + GAP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6B5E6B-BABD-4803-ADB8-FBF31372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479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96EB8"/>
                </a:solidFill>
              </a:defRPr>
            </a:pPr>
            <a:r>
              <a:rPr sz="2550" b="1">
                <a:solidFill>
                  <a:srgbClr val="396EB8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41DB1B-0C4E-4DC3-8850-623FC7C3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05050"/>
            <a:ext cx="1809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41B1D3-D9D0-498D-93C1-D51EDBFD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95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TFLite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84E791-83F4-4282-96E8-6EEC2716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860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67A"/>
                </a:solidFill>
              </a:defRPr>
            </a:pPr>
            <a:r>
              <a:rPr sz="1275" b="0">
                <a:solidFill>
                  <a:srgbClr val="5B667A"/>
                </a:solidFill>
              </a:rPr>
              <a:t>58.1 KB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64E833-2B10-473D-AB35-471B69EF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479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96EB8"/>
                </a:solidFill>
              </a:defRPr>
            </a:pPr>
            <a:r>
              <a:rPr sz="2550" b="1">
                <a:solidFill>
                  <a:srgbClr val="396EB8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E25A28-D9A9-4B7A-B46B-8C407C04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05050"/>
            <a:ext cx="1809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AC3AAC-F82C-4AB0-8CA8-A40B249C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95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Firmware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C8A1A7-DAFD-43C6-85F9-55E57701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860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67A"/>
                </a:solidFill>
              </a:defRPr>
            </a:pPr>
            <a:r>
              <a:rPr sz="1275" b="0">
                <a:solidFill>
                  <a:srgbClr val="5B667A"/>
                </a:solidFill>
              </a:rPr>
              <a:t>Core 1 · 2 s hop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FA3798-5EFA-42DE-9807-F6A8D0E8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6286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Clases actuales: reposo, caminar, correr y caída.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La app ya genera CSV etiquetados desde modo desarrollador.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El firmware contiene modelo C/TFLite y fallback heurístico si el intérprete falla.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Inferencia desacoplada de BLE/LVGL para evitar bloquear la interfaz.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952EC4-9F08-4B69-B794-1C9C9051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29050"/>
            <a:ext cx="3048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11C971-3D99-461C-BAB6-359DCB87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38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9E0B"/>
                </a:solidFill>
              </a:defRPr>
            </a:pPr>
            <a:r>
              <a:rPr sz="1725" b="1">
                <a:solidFill>
                  <a:srgbClr val="F59E0B"/>
                </a:solidFill>
              </a:rPr>
              <a:t>Estado honesto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9A40A3-2DF9-45A8-9491-88050D44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386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El pipeline está montado; falta consolidar dataset real y reportar desempeño final fuera de muestras sintéticas/controladas.</a:t>
            </a:r>
          </a:p>
        </p:txBody>
      </p:sp>
    </p:spTree>
    <p:extLst>
      <p:ext uri="{BB962C8B-B14F-4D97-AF65-F5344CB8AC3E}">
        <p14:creationId xmlns:p14="http://schemas.microsoft.com/office/powerpoint/2010/main" val="14218454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C3CC0F-D2C1-4622-A029-54E17E17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6EB8"/>
                </a:solidFill>
              </a:defRPr>
            </a:pPr>
            <a:r>
              <a:rPr sz="975" b="1">
                <a:solidFill>
                  <a:srgbClr val="396EB8"/>
                </a:solidFill>
              </a:rPr>
              <a:t>ML: EVIDENCIA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D1A67-1F6E-4129-ADB6-DEEC9FA3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Entrenamiento y artefactos del modelo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5CDEC-6F5A-4EC3-8455-AA40D756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8AA8C-6A12-43AF-ACB6-219A9148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</a:defRPr>
            </a:pPr>
            <a:r>
              <a:rPr sz="975" b="0">
                <a:solidFill>
                  <a:srgbClr val="5B667A"/>
                </a:solidFill>
              </a:rPr>
              <a:t>SupaClock · Entrega 4 · Avance 90%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3992E-04D2-4B6B-9C50-0F2F2787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67A"/>
                </a:solidFill>
              </a:defRPr>
            </a:pPr>
            <a:r>
              <a:rPr sz="975" b="0">
                <a:solidFill>
                  <a:srgbClr val="5B667A"/>
                </a:solidFill>
              </a:rPr>
              <a:t>07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51c66e49547c6"/>
          <a:stretch xmlns:a="http://schemas.openxmlformats.org/drawingml/2006/main"/>
        </p:blipFill>
        <p:spPr>
          <a:xfrm xmlns:a="http://schemas.openxmlformats.org/drawingml/2006/main">
            <a:off x="971550" y="1524000"/>
            <a:ext cx="5334000" cy="400050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DB1A7F-A685-4B32-BB96-01A915B2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62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Qué ya quedó listo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ED077-048D-4C98-A928-E81CB9C2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33600"/>
            <a:ext cx="3810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Script de entrenamiento: tools/train_har_cnn.py.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Modelo TFLite generado: har_model.tflite.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Blob C embebible para firmware: lib/har_cnn1d/har_model.c.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Captura etiquetada desde Flutter: resting/walking/running/fall.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Ventanas superpuestas al 50% para continuidad temporal.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9BE1A-368B-4B03-B2BC-B56AB883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48200"/>
            <a:ext cx="3429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5E8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73B389-F09E-4BAA-8950-C8884982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815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96EB8"/>
                </a:solidFill>
              </a:defRPr>
            </a:pPr>
            <a:r>
              <a:rPr sz="1200" b="1">
                <a:solidFill>
                  <a:srgbClr val="396EB8"/>
                </a:solidFill>
              </a:rPr>
              <a:t>Próximo salto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ECAAE-D84D-4828-AF97-102B70B3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10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Matriz de confusión y prueba cruzada con datos reales capturados por el propio reloj.</a:t>
            </a:r>
          </a:p>
        </p:txBody>
      </p:sp>
    </p:spTree>
    <p:extLst>
      <p:ext uri="{BB962C8B-B14F-4D97-AF65-F5344CB8AC3E}">
        <p14:creationId xmlns:p14="http://schemas.microsoft.com/office/powerpoint/2010/main" val="14416140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DEADD1-D42F-4E35-887C-26027E0E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6EB8"/>
                </a:solidFill>
              </a:defRPr>
            </a:pPr>
            <a:r>
              <a:rPr sz="975" b="1">
                <a:solidFill>
                  <a:srgbClr val="396EB8"/>
                </a:solidFill>
              </a:rPr>
              <a:t>INTEGRACIÓN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C86577-D3AA-4054-A2AB-25EE7720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App y BLE como puente de validación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9370E-FFD5-4113-B511-0DE0F540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E0E7D-566B-452B-9ABC-C75BF3AA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</a:defRPr>
            </a:pPr>
            <a:r>
              <a:rPr sz="975" b="0">
                <a:solidFill>
                  <a:srgbClr val="5B667A"/>
                </a:solidFill>
              </a:rPr>
              <a:t>SupaClock · Entrega 4 · Avance 90%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C6B8E-412A-4069-96A6-DE12AFE8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67A"/>
                </a:solidFill>
              </a:defRPr>
            </a:pPr>
            <a:r>
              <a:rPr sz="975" b="0">
                <a:solidFill>
                  <a:srgbClr val="5B667A"/>
                </a:solidFill>
              </a:rPr>
              <a:t>08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c2ffb825e42ba"/>
          <a:srcRect xmlns:a="http://schemas.openxmlformats.org/drawingml/2006/main" l="0" t="5730" r="0" b="57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409700"/>
            <a:ext cx="2333625" cy="4476750"/>
          </a:xfrm>
          <a:prstGeom xmlns:a="http://schemas.openxmlformats.org/drawingml/2006/main" prst="roundRect">
            <a:avLst>
              <a:gd name="adj" fmla="val 6531"/>
            </a:avLst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54fe5def284043"/>
          <a:srcRect xmlns:a="http://schemas.openxmlformats.org/drawingml/2006/main" l="0" t="5730" r="0" b="57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90900" y="1409700"/>
            <a:ext cx="2333625" cy="4476750"/>
          </a:xfrm>
          <a:prstGeom xmlns:a="http://schemas.openxmlformats.org/drawingml/2006/main" prst="roundRect">
            <a:avLst>
              <a:gd name="adj" fmla="val 6531"/>
            </a:avLst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2f395917d5438f"/>
          <a:srcRect xmlns:a="http://schemas.openxmlformats.org/drawingml/2006/main" l="0" t="5730" r="0" b="57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409700"/>
            <a:ext cx="2333625" cy="4476750"/>
          </a:xfrm>
          <a:prstGeom xmlns:a="http://schemas.openxmlformats.org/drawingml/2006/main" prst="roundRect">
            <a:avLst>
              <a:gd name="adj" fmla="val 653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DF571-7D75-4147-AB50-699FECAB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049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La app dejó de ser solo 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E7E567-6BF0-48A0-9063-A93CEBCD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62200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Controla start/stop ECG.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Visualiza IMU/ECG en vivo.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Graba CSV locales etiquetados.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Sincroniza sesiones y blobs comprimidos.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Permite iterar ML sin volver al monitor Python.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AF5B61-855C-473C-B397-F7ABA451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0"/>
            <a:ext cx="23336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0FFF4"/>
          </a:solidFill>
          <a:ln xmlns:a="http://schemas.openxmlformats.org/drawingml/2006/main" w="9525">
            <a:solidFill>
              <a:srgbClr val="CBEB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E64A5E-5DA5-4996-B239-31E0E9F2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895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FB950"/>
                </a:solidFill>
              </a:defRPr>
            </a:pPr>
            <a:r>
              <a:rPr sz="1350" b="1">
                <a:solidFill>
                  <a:srgbClr val="3FB950"/>
                </a:solidFill>
              </a:rPr>
              <a:t>BLE validado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682909-0E5E-4AA1-9E3C-5A128E6E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1625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0xFF01 IMU · 0xFF02 TLV · 0xFF03 ECG · 0xFF04 comandos</a:t>
            </a:r>
          </a:p>
        </p:txBody>
      </p:sp>
    </p:spTree>
    <p:extLst>
      <p:ext uri="{BB962C8B-B14F-4D97-AF65-F5344CB8AC3E}">
        <p14:creationId xmlns:p14="http://schemas.microsoft.com/office/powerpoint/2010/main" val="1759726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9D298D-6B1B-49F6-A77C-CC60376A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6EB8"/>
                </a:solidFill>
              </a:defRPr>
            </a:pPr>
            <a:r>
              <a:rPr sz="975" b="1">
                <a:solidFill>
                  <a:srgbClr val="396EB8"/>
                </a:solidFill>
              </a:rPr>
              <a:t>CIERRE DE HARDWARE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C2532-F907-4004-97A6-11A06395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PCB final fabricada en China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10DBFE-0F80-4422-B805-54B9A534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C5C1F-1623-40C1-AE05-1064652B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</a:defRPr>
            </a:pPr>
            <a:r>
              <a:rPr sz="975" b="0">
                <a:solidFill>
                  <a:srgbClr val="5B667A"/>
                </a:solidFill>
              </a:rPr>
              <a:t>SupaClock · Entrega 4 · Avance 90%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1FA71-1AD5-45C3-8005-A4966E7F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67A"/>
                </a:solidFill>
              </a:defRPr>
            </a:pPr>
            <a:r>
              <a:rPr sz="975" b="0">
                <a:solidFill>
                  <a:srgbClr val="5B667A"/>
                </a:solidFill>
              </a:rPr>
              <a:t>09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0024993ed4236"/>
          <a:stretch xmlns:a="http://schemas.openxmlformats.org/drawingml/2006/main"/>
        </p:blipFill>
        <p:spPr>
          <a:xfrm xmlns:a="http://schemas.openxmlformats.org/drawingml/2006/main">
            <a:off x="685800" y="1930686"/>
            <a:ext cx="3429000" cy="2425128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879b039be46ed"/>
          <a:stretch xmlns:a="http://schemas.openxmlformats.org/drawingml/2006/main"/>
        </p:blipFill>
        <p:spPr>
          <a:xfrm xmlns:a="http://schemas.openxmlformats.org/drawingml/2006/main">
            <a:off x="4305300" y="1930686"/>
            <a:ext cx="3429000" cy="2425128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2931D-9D21-4B41-9525-E0A32037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04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Objetivo del rediseño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A2D998-FA6F-4039-B11D-64E23047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333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Fabricación externa tipo JLCPCB con reglas más finas que LPKF.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Migrar de headers/módulos altos a montaje más bajo y repetible.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Reducir la altura del reloj en al menos 33%.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Mantener ECG, PPG, temperatura, display y batería dentro de una carcasa realista.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683C3-6A9C-4990-9A69-66A7BE29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29100"/>
            <a:ext cx="2762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5E8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879E3E-37A1-40F5-B43A-93530339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624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6EB8"/>
                </a:solidFill>
              </a:defRPr>
            </a:pPr>
            <a:r>
              <a:rPr sz="1275" b="1">
                <a:solidFill>
                  <a:srgbClr val="396EB8"/>
                </a:solidFill>
              </a:rPr>
              <a:t>Meta geométrica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8C536D-734F-4824-942F-FD01ECD9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Si el prototipo ronda 22 mm, la meta ≥33% exige acercarse a ≤15 mm.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4A6C17-B10C-438F-A2F3-A428C297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A"/>
                </a:solidFill>
              </a:defRPr>
            </a:pPr>
            <a:r>
              <a:rPr sz="1200" b="0">
                <a:solidFill>
                  <a:srgbClr val="5B667A"/>
                </a:solidFill>
              </a:rPr>
              <a:t>Nota: esta lámina plantea objetivo de diseño; el valor final se debe confirmar con medición mecánica de la placa china ensamblada.</a:t>
            </a:r>
          </a:p>
        </p:txBody>
      </p:sp>
    </p:spTree>
    <p:extLst>
      <p:ext uri="{BB962C8B-B14F-4D97-AF65-F5344CB8AC3E}">
        <p14:creationId xmlns:p14="http://schemas.microsoft.com/office/powerpoint/2010/main" val="5313073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148E34-22B0-43EC-9CB7-12D7EFD0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6EB8"/>
                </a:solidFill>
              </a:defRPr>
            </a:pPr>
            <a:r>
              <a:rPr sz="975" b="1">
                <a:solidFill>
                  <a:srgbClr val="396EB8"/>
                </a:solidFill>
              </a:rPr>
              <a:t>APRENDIZAJES DEL PROTOTIPO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E828C-C66E-4FE0-A18E-5ABB50A4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Rediseño de carcasa final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C6039-9EE7-4C92-9158-17EFF41C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D692F-3A66-45C5-AD44-FD8DFE40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</a:defRPr>
            </a:pPr>
            <a:r>
              <a:rPr sz="975" b="0">
                <a:solidFill>
                  <a:srgbClr val="5B667A"/>
                </a:solidFill>
              </a:rPr>
              <a:t>SupaClock · Entrega 4 · Avance 90%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7F6B9-6216-4670-A17B-F426F0E8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67A"/>
                </a:solidFill>
              </a:defRPr>
            </a:pPr>
            <a:r>
              <a:rPr sz="975" b="0">
                <a:solidFill>
                  <a:srgbClr val="5B667A"/>
                </a:solidFill>
              </a:rPr>
              <a:t>10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0f1d4950f94057"/>
          <a:stretch xmlns:a="http://schemas.openxmlformats.org/drawingml/2006/main"/>
        </p:blipFill>
        <p:spPr>
          <a:xfrm xmlns:a="http://schemas.openxmlformats.org/drawingml/2006/main">
            <a:off x="983876" y="1428750"/>
            <a:ext cx="4166347" cy="3219450"/>
          </a:xfrm>
          <a:prstGeom xmlns:a="http://schemas.openxmlformats.org/drawingml/2006/main" prst="roundRect">
            <a:avLst>
              <a:gd name="adj" fmla="val 4734"/>
            </a:avLst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dd9f942c6449fe"/>
          <a:stretch xmlns:a="http://schemas.openxmlformats.org/drawingml/2006/main"/>
        </p:blipFill>
        <p:spPr>
          <a:xfrm xmlns:a="http://schemas.openxmlformats.org/drawingml/2006/main">
            <a:off x="1319213" y="4819650"/>
            <a:ext cx="1257300" cy="97155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A2D44E-1F16-41D2-97AB-21AE52BF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668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Consideraciones detectadas al hacerlo funcionar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D761BE-9B2B-4EB5-9A53-4603AF37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76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Altura y volumen: la carcasa debe seguir a la PCB final, no al prototipo con headers.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Contacto sensor-piel: presión estable para PPG/temperatura sin incomodidad.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ECG: electrodos accesibles, aislados y fáciles de posicionar.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Botones/USB-C: tolerancias reales de impresión y acceso sin forzar el cuerpo.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Mantenibilidad: abrir/cerrar sin dañar soldaduras ni pads.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5A22FB-5943-40F0-B462-4A710D8C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86300"/>
            <a:ext cx="4686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39C3F-1512-49FB-A834-BC1C9679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6EB8"/>
                </a:solidFill>
              </a:defRPr>
            </a:pPr>
            <a:r>
              <a:rPr sz="1275" b="1">
                <a:solidFill>
                  <a:srgbClr val="396EB8"/>
                </a:solidFill>
              </a:rPr>
              <a:t>Cambio conceptual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4AB35-3D0D-42F3-A9F5-59D31DC8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435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La carcasa ya no es una caja: es parte del sistema de medición biométrica.</a:t>
            </a:r>
          </a:p>
        </p:txBody>
      </p:sp>
    </p:spTree>
    <p:extLst>
      <p:ext uri="{BB962C8B-B14F-4D97-AF65-F5344CB8AC3E}">
        <p14:creationId xmlns:p14="http://schemas.microsoft.com/office/powerpoint/2010/main" val="12694145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2626D0-67F8-48F6-BA5E-886BEA02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6EB8"/>
                </a:solidFill>
              </a:defRPr>
            </a:pPr>
            <a:r>
              <a:rPr sz="975" b="1">
                <a:solidFill>
                  <a:srgbClr val="396EB8"/>
                </a:solidFill>
              </a:rPr>
              <a:t>CIERRE TÉCNICO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248F0-A182-4652-8D7B-8850CFFA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Qué falta para completar el 100%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28F49-3300-4055-A066-1D3B5312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8EA69-5AA4-4B60-A7A2-C218235E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</a:defRPr>
            </a:pPr>
            <a:r>
              <a:rPr sz="975" b="0">
                <a:solidFill>
                  <a:srgbClr val="5B667A"/>
                </a:solidFill>
              </a:rPr>
              <a:t>SupaClock · Entrega 4 · Avance 90%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ED5756-8CC4-4C53-BE7B-E944EA9C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67A"/>
                </a:solidFill>
              </a:defRPr>
            </a:pPr>
            <a:r>
              <a:rPr sz="975" b="0">
                <a:solidFill>
                  <a:srgbClr val="5B667A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84944-22ED-49AD-B05F-EEF9D1D8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2381250" cy="3476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1E267-CE64-4C67-BF99-EAA5BDA7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96EB8"/>
                </a:solidFill>
              </a:defRPr>
            </a:pPr>
            <a:r>
              <a:rPr sz="1875" b="1">
                <a:solidFill>
                  <a:srgbClr val="396EB8"/>
                </a:solidFill>
              </a:rPr>
              <a:t>Hardware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C3D983-5AA0-444B-B23A-49AB6B52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762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Pedir PCB China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Bring-up eléctrico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Validar consumo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Ajustar electrodos ECG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ED8DE-4097-463B-BB8F-E94D89B1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43050"/>
            <a:ext cx="2381250" cy="3476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F4893B-AFFB-4516-B795-19EB0C47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8097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96EB8"/>
                </a:solidFill>
              </a:defRPr>
            </a:pPr>
            <a:r>
              <a:rPr sz="1875" b="1">
                <a:solidFill>
                  <a:srgbClr val="396EB8"/>
                </a:solidFill>
              </a:rPr>
              <a:t>Software / 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15870F-A9D0-43F7-A8E6-11842432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81250"/>
            <a:ext cx="1762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Dataset final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Matriz de confusión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Quantización final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UI de estado HAR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3B0AB9-9AE1-4B7B-8BDC-8F99D78C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43050"/>
            <a:ext cx="2381250" cy="3476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B6A39-C52D-4644-A0C7-F9D40A61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96EB8"/>
                </a:solidFill>
              </a:defRPr>
            </a:pPr>
            <a:r>
              <a:rPr sz="1875" b="1">
                <a:solidFill>
                  <a:srgbClr val="396EB8"/>
                </a:solidFill>
              </a:rPr>
              <a:t>Mecánica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C578A6-55C3-42C7-8E8F-99698D9C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81250"/>
            <a:ext cx="1762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Carcasa compacta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Ventanas sensores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Botones/USB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Confort y montaje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C156DD-B312-4B6A-87A8-2C676203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43050"/>
            <a:ext cx="2381250" cy="3476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7B76BD-D8E3-4A5C-9195-EC0B35BB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097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96EB8"/>
                </a:solidFill>
              </a:defRPr>
            </a:pPr>
            <a:r>
              <a:rPr sz="1875" b="1">
                <a:solidFill>
                  <a:srgbClr val="396EB8"/>
                </a:solidFill>
              </a:rPr>
              <a:t>Validación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45B07A-8458-4D19-B842-EBF315D9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81250"/>
            <a:ext cx="1762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Demo cerrada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Pruebas repetibles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Informe final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Video/evidencia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0C2B0A-67C7-4CA4-B150-755AED3C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57800"/>
            <a:ext cx="10058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AA59D6-83CC-4E0D-A1D1-AB6762A7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67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</a:defRPr>
            </a:pPr>
            <a:r>
              <a:rPr sz="1275" b="1">
                <a:solidFill>
                  <a:srgbClr val="F59E0B"/>
                </a:solidFill>
              </a:rPr>
              <a:t>Criterio de término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AE780B-17FA-4FF0-B6EC-FE6C006E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4102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El 100% se logra cuando el reloj mide ECG/biometría, clasifica actividad y se puede usar cerrado con una placa/carcasa repetible.</a:t>
            </a:r>
          </a:p>
        </p:txBody>
      </p:sp>
    </p:spTree>
    <p:extLst>
      <p:ext uri="{BB962C8B-B14F-4D97-AF65-F5344CB8AC3E}">
        <p14:creationId xmlns:p14="http://schemas.microsoft.com/office/powerpoint/2010/main" val="7107217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BD4913-36CF-4B4D-8134-850AEC92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6EB8"/>
                </a:solidFill>
              </a:defRPr>
            </a:pPr>
            <a:r>
              <a:rPr sz="975" b="1">
                <a:solidFill>
                  <a:srgbClr val="396EB8"/>
                </a:solidFill>
              </a:rPr>
              <a:t>SIGUIENTES PASOS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29948-5612-4E4F-93BD-3390D10D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Plan de ataque: del 90% al 100%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37983-90F7-42E3-AE60-08365DDB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70CBC-C87C-479D-A074-F818CFB9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</a:defRPr>
            </a:pPr>
            <a:r>
              <a:rPr sz="975" b="0">
                <a:solidFill>
                  <a:srgbClr val="5B667A"/>
                </a:solidFill>
              </a:rPr>
              <a:t>SupaClock · Entrega 4 · Avance 90%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EC8C5-5AEE-482D-845F-0A507369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67A"/>
                </a:solidFill>
              </a:defRPr>
            </a:pPr>
            <a:r>
              <a:rPr sz="975" b="0">
                <a:solidFill>
                  <a:srgbClr val="5B667A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4C364-4900-449F-86F2-90BF45CC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6E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AA2BAC-DC43-4E6A-90B1-1097F3E3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716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C4013-8267-4002-BEB4-DCCE1694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6573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Fabricación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858736-273F-4604-B1B4-FFBDC55B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0193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</a:defRPr>
            </a:pPr>
            <a:r>
              <a:rPr sz="1575" b="0">
                <a:solidFill>
                  <a:srgbClr val="5B667A"/>
                </a:solidFill>
              </a:rPr>
              <a:t>Cerrar DRC, exportar gerbers y pedir placa china.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6FA7CF-C652-4915-8F94-433D42A3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43150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D56D9C-D88E-42A0-8D9F-1E3FF18A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6E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11C8CB-23CE-47AD-89C1-7D020AB6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89626B-AF2F-4B6F-A559-A7D7DB1B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609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Bring-up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2A3A10-D780-48FC-88E4-25902D24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9718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</a:defRPr>
            </a:pPr>
            <a:r>
              <a:rPr sz="1575" b="0">
                <a:solidFill>
                  <a:srgbClr val="5B667A"/>
                </a:solidFill>
              </a:rPr>
              <a:t>Energía, BLE, ECG, sensores y pantalla sobre la nueva PCB.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6D70EB-8E9D-472B-869D-5C1487D5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95650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044DA4-6FB2-4C9C-9661-00B6732B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9CA3D6-108B-4AA2-8BD3-C2129CB8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6B4271-9593-4AC5-9939-2E50E433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5623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Carcasa final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A73D12-8E72-4407-A1B8-074A9A04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243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</a:defRPr>
            </a:pPr>
            <a:r>
              <a:rPr sz="1575" b="0">
                <a:solidFill>
                  <a:srgbClr val="5B667A"/>
                </a:solidFill>
              </a:rPr>
              <a:t>Rediseño con altura objetivo y contacto sensor-piel.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5AF5F3-4B89-4621-A40C-D233B502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48150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1E0F22-58B8-43DE-B7F3-41F52151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B9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A84FF8-EC93-4ABD-8478-9E8B7907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49163F-9EA5-4434-821C-E8A9B7CD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14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Validación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D9CBD0-61D5-4754-BBB0-11C959F9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768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</a:defRPr>
            </a:pPr>
            <a:r>
              <a:rPr sz="1575" b="0">
                <a:solidFill>
                  <a:srgbClr val="5B667A"/>
                </a:solidFill>
              </a:rPr>
              <a:t>ECG cerrado + dataset HAR + demo final documentada.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09FB15-0795-4E0F-A4BE-EB8ADFDA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19250"/>
            <a:ext cx="1714500" cy="29718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0FFF4"/>
          </a:solidFill>
          <a:ln xmlns:a="http://schemas.openxmlformats.org/drawingml/2006/main" w="9525">
            <a:solidFill>
              <a:srgbClr val="CBEB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425EB1-6704-4DFD-808B-00314375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050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FB950"/>
                </a:solidFill>
              </a:defRPr>
            </a:pPr>
            <a:r>
              <a:rPr sz="1500" b="1">
                <a:solidFill>
                  <a:srgbClr val="3FB950"/>
                </a:solidFill>
              </a:rPr>
              <a:t>Riesgo mayor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B40CF9-4DF5-4BD0-B94B-D7743090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81250"/>
            <a:ext cx="1190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es código aislado: es tolerancia física, ruido real y repetibilidad del ensamblaje.</a:t>
            </a:r>
          </a:p>
        </p:txBody>
      </p:sp>
    </p:spTree>
    <p:extLst>
      <p:ext uri="{BB962C8B-B14F-4D97-AF65-F5344CB8AC3E}">
        <p14:creationId xmlns:p14="http://schemas.microsoft.com/office/powerpoint/2010/main" val="8538193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749DAD-8804-4A44-9B28-7A753C82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28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Demo / Discusión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1857E-DFEB-45B5-ABFA-2C5D5017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CDE2FF"/>
                </a:solidFill>
              </a:defRPr>
            </a:pPr>
            <a:r>
              <a:rPr sz="2025" b="0">
                <a:solidFill>
                  <a:srgbClr val="CDE2FF"/>
                </a:solidFill>
              </a:rPr>
              <a:t>ECG en PCB · streaming BLE · avances ML · camino a placa china y carcasa final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A4B85-A414-4BFF-901C-DC8A1BC7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6E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D1880-5C37-4276-88E6-9022F176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Qué queremos que quede claro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84484-11C6-42EC-84DB-BDD9BBAA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790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• El reloj ya tiene un prototipo funcional con ECG real.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• El ML dejó de ser idea: hay pipeline entrenable/exportable/embebible.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• La última etapa es convertir el prototipo de laboratorio en producto repetible.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A79C9C-B229-4308-B552-6898EEB8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DB6DD"/>
                </a:solidFill>
              </a:defRPr>
            </a:pPr>
            <a:r>
              <a:rPr sz="1125" b="0">
                <a:solidFill>
                  <a:srgbClr val="9DB6DD"/>
                </a:solidFill>
              </a:rPr>
              <a:t>Fuentes internas: docs/Entrega3, tools/supaclock_ecg_20260618_204331.csv, docs/ble_har_protocol.md, tools/train_har_cnn.py, hardware/SupaClock_Carrier_v3.</a:t>
            </a:r>
          </a:p>
        </p:txBody>
      </p:sp>
    </p:spTree>
    <p:extLst>
      <p:ext uri="{BB962C8B-B14F-4D97-AF65-F5344CB8AC3E}">
        <p14:creationId xmlns:p14="http://schemas.microsoft.com/office/powerpoint/2010/main" val="13222319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2026-06-25T01:29:26.1380000Z</dcterms:created>
  <dcterms:modified xsi:type="dcterms:W3CDTF">2026-06-25T01:29:26.1380000Z</dcterms:modified>
</coreProperties>
</file>